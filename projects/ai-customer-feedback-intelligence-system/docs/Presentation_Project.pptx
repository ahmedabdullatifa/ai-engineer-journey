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6" r:id="rId17"/>
    <p:sldId id="263"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Accuracy (%)</c:v>
                </c:pt>
              </c:strCache>
            </c:strRef>
          </c:tx>
          <c:spPr>
            <a:solidFill>
              <a:srgbClr val="4472C4"/>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US" sz="1100" b="0" i="0" u="none" strike="noStrike" kern="1200" baseline="0">
                    <a:solidFill>
                      <a:srgbClr val="262626"/>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Sheet1!$A$2:$A$3</c:f>
              <c:strCache>
                <c:ptCount val="2"/>
                <c:pt idx="0">
                  <c:v>Logistic Regression</c:v>
                </c:pt>
                <c:pt idx="1">
                  <c:v>Random Forest</c:v>
                </c:pt>
              </c:strCache>
            </c:strRef>
          </c:cat>
          <c:val>
            <c:numRef>
              <c:f>Sheet1!$B$2:$B$3</c:f>
              <c:numCache>
                <c:formatCode>0.0</c:formatCode>
                <c:ptCount val="2"/>
                <c:pt idx="0">
                  <c:v>82.1</c:v>
                </c:pt>
                <c:pt idx="1">
                  <c:v>78.3</c:v>
                </c:pt>
              </c:numCache>
            </c:numRef>
          </c:val>
        </c:ser>
        <c:dLbls>
          <c:numFmt formatCode="0.0" sourceLinked="0"/>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50" b="0" i="0" u="none" strike="noStrike" kern="1200" baseline="0">
                <a:solidFill>
                  <a:srgbClr val="6B7280"/>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100"/>
        </c:scaling>
        <c:delete val="0"/>
        <c:axPos val="l"/>
        <c:majorGridlines>
          <c:spPr>
            <a:ln w="9525" cap="flat" cmpd="sng" algn="ctr">
              <a:solidFill>
                <a:srgbClr val="E2E6EC"/>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6B728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93d25d36-6dfd-467f-8340-ea9ef4d9b4eb}"/>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Negative reviews</c:v>
                </c:pt>
              </c:strCache>
            </c:strRef>
          </c:tx>
          <c:spPr>
            <a:solidFill>
              <a:srgbClr val="4472C4"/>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262626"/>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Sheet1!$A$2:$A$9</c:f>
              <c:strCache>
                <c:ptCount val="8"/>
                <c:pt idx="0">
                  <c:v>Skirts</c:v>
                </c:pt>
                <c:pt idx="1">
                  <c:v>Jeans</c:v>
                </c:pt>
                <c:pt idx="2">
                  <c:v>Fine gauge</c:v>
                </c:pt>
                <c:pt idx="3">
                  <c:v>Pants</c:v>
                </c:pt>
                <c:pt idx="4">
                  <c:v>Sweaters</c:v>
                </c:pt>
                <c:pt idx="5">
                  <c:v>Blouses</c:v>
                </c:pt>
                <c:pt idx="6">
                  <c:v>Knits</c:v>
                </c:pt>
                <c:pt idx="7">
                  <c:v>Dresses</c:v>
                </c:pt>
              </c:strCache>
            </c:strRef>
          </c:cat>
          <c:val>
            <c:numRef>
              <c:f>Sheet1!$B$2:$B$9</c:f>
              <c:numCache>
                <c:formatCode>General</c:formatCode>
                <c:ptCount val="8"/>
                <c:pt idx="0">
                  <c:v>85</c:v>
                </c:pt>
                <c:pt idx="1">
                  <c:v>85</c:v>
                </c:pt>
                <c:pt idx="2">
                  <c:v>104</c:v>
                </c:pt>
                <c:pt idx="3">
                  <c:v>122</c:v>
                </c:pt>
                <c:pt idx="4">
                  <c:v>151</c:v>
                </c:pt>
                <c:pt idx="5">
                  <c:v>343</c:v>
                </c:pt>
                <c:pt idx="6">
                  <c:v>498</c:v>
                </c:pt>
                <c:pt idx="7">
                  <c:v>680</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050" b="0" i="0" u="none" strike="noStrike" kern="1200" baseline="0">
                <a:solidFill>
                  <a:srgbClr val="6B7280"/>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txPr>
          <a:bodyPr rot="-60000000" spcFirstLastPara="0" vertOverflow="ellipsis" vert="horz" wrap="square" anchor="ctr" anchorCtr="1"/>
          <a:lstStyle/>
          <a:p>
            <a:pPr>
              <a:defRPr lang="en-US" sz="900" b="0" i="0" u="none" strike="noStrike" kern="1200" baseline="0">
                <a:solidFill>
                  <a:srgbClr val="6B728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e4441a4d-a96c-48c2-9d87-72097c67523c}"/>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Professional Diploma — Graduation Project, Project 1 (AI Customer Feedback Intelligence System). Deck rebuilt to fully cover the technical requirements checklist: EDA visuals, Most Common Words, model-comparison chart, and a business insights summary, alongside speaker notes that explain the technical reasoning behind each step (for grading criteria: Documentation 10%, Data Preparation 15%, Model Development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framing: manual review reading doesn't scale past a few thousand reviews, so an automated pipeline is needed. Approach combines two ML paradigms deliberately — supervised classification answers 'how do customers feel', unsupervised clustering answers 'why', which together give both a KPI (sentiment %) and an actionable root cause (complaint theme). This directly maps to the rubric's Problem Understanding (10%)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slide: satisfy the 'Problem Understanding &amp; Dataset Exploration' phase (2h in the project timeline) and the required 'Sentiment Distribution' and 'Review Rating Distribution' visualizations from the brief (Notebook cells 41 &amp; 43 — now embedded as real charts). The average rating and Positive/Neutral counts in the table were read off the chart axes as close estimates — for a submission-perfect number, re-run cell 51 (df['Rating'].mean()) and cell 53 (Sentiment value counts) and swap in the exact printed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Line-by-line rationale for the grader: clean_text() lower-cases, tokenizes with NLTK, keeps only alphabetic tokens (isalpha filters out numbers/punctuation/emoji which add no semantic value to TF-IDF), removes stopwords (the/is/and — high frequency, near-zero information), then rejoins into a string because TfidfVectorizer expects raw text, not a token list. dropna() removes rows with missing Review Text/Rating; drop_duplicates() removes exact repeat submissions (e.g. accidental double-posts) — both directly serve the 'Data Preparation' rubric line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(words.value_counts().head(15), plotted as a horizontal bar chart from cells 45–47) is explicitly named in the project's required Visualization list and was missing from the original deck — now embedded. Note 'dress', 'love', 'size', 'fit' dominate: consistent with a clothing retailer and a useful sanity check that stopword removal worked (no 'the', 'and', 'was' in the top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TF-IDF = Term Frequency × Inverse Document Factor: a word frequent in one review but rare across all reviews gets a high score (distinctive), while a word common everywhere (e.g. 'dress') gets down-weighted. This is why TF-IDF outperforms plain word counts for text classification. Sentiment labels are rule-derived from the star Rating (not manually labeled), which is a simplifying assumption worth stating explicitly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Random Forest underperforms here despite being a stronger model on paper: with 5,000 sparse TF-IDF features and heavy class imbalance, an unweighted Random Forest biases its trees toward the majority (Positive) class, shown by Neutral recall collapsing to 0.02. Logistic Regression's linear decision boundary on high-dimensional sparse TF-IDF space is a classic strong baseline for text classification (comparable to the 'Naive Bayes / Logistic Regression as text-classification baseline' result widely reported in NLP literature). Recommended fix for future iteration: class_weight='balanced' on both models, or oversampling (SMOTE) the minority classes before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technical detail worth stating explicitly in the report: negative_reviews are transformed with vectorizer.transform() — NOT fit_transform() — reusing the vocabulary/IDF weights learned on the full training set, so clusters are comparable to the classification features. k=5 was chosen directly rather than tuned; mentioning an elbow-method or silhouette-score check as a limitation/future improvement strengthens the Model Development section. Cluster 3 (Fabric/material quality — 'cheap', 'thin', 'poor') is the largest complaint group at 763 reviews (32% of all negatives) — the single highest-priority theme for the QA/sourcing team. Cluster 2 (sizing) is second at 536. Cluster 1 (boxy/short fit) is smallest at 196 but still a distinct, actionable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satisfies the 'Business insights dashboard' item in the Expected Deliverables list, which was missing from the original deck. Category breakdown from negative_reviews.groupby('Product Category').size().sort_values(ascending=False) — 18 categories total; chart shows the top 8. Dresses (680) and Knits (498) together make up roughly half of all 2,369 negative reviews, so cross-referencing category with cluster theme (e.g. 'are Dresses failing mostly on fabric quality or on fit?') is the natural next analysis and a strong 'Additional business insights' bonus-marks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recap. Additional bonus-mark opportunities available for future iterations: exceptional visualizations (interactive dashboard via Plotly/Streamlit), multiple model comparisons (add Naive Bayes or SVM as a third classifier), advanced feature engineering (add review length, exclamation-mark count as extra features), and a deployment demonstration (simple Flask/Streamlit app loading the saved .pkl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731520" y="2148840"/>
            <a:ext cx="10725912" cy="91440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AI Customer Feedback Intelligence System</a:t>
            </a:r>
            <a:endParaRPr lang="en-US" sz="3400" dirty="0"/>
          </a:p>
        </p:txBody>
      </p:sp>
      <p:sp>
        <p:nvSpPr>
          <p:cNvPr id="3" name="Text 1"/>
          <p:cNvSpPr/>
          <p:nvPr/>
        </p:nvSpPr>
        <p:spPr>
          <a:xfrm>
            <a:off x="731520" y="2971800"/>
            <a:ext cx="10725912" cy="457200"/>
          </a:xfrm>
          <a:prstGeom prst="rect">
            <a:avLst/>
          </a:prstGeom>
          <a:noFill/>
        </p:spPr>
        <p:txBody>
          <a:bodyPr wrap="square" lIns="0" tIns="0" rIns="0" bIns="0" rtlCol="0" anchor="ctr"/>
          <a:lstStyle/>
          <a:p>
            <a:pPr marL="0" indent="0">
              <a:buNone/>
            </a:pPr>
            <a:endParaRPr lang="en-US" sz="1600" dirty="0"/>
          </a:p>
        </p:txBody>
      </p:sp>
      <p:sp>
        <p:nvSpPr>
          <p:cNvPr id="4" name="Shape 2"/>
          <p:cNvSpPr/>
          <p:nvPr/>
        </p:nvSpPr>
        <p:spPr>
          <a:xfrm>
            <a:off x="731520" y="5074920"/>
            <a:ext cx="2011680" cy="0"/>
          </a:xfrm>
          <a:prstGeom prst="line">
            <a:avLst/>
          </a:prstGeom>
          <a:noFill/>
          <a:ln w="25400">
            <a:solidFill>
              <a:srgbClr val="4472C4"/>
            </a:solidFill>
            <a:prstDash val="solid"/>
          </a:ln>
        </p:spPr>
        <p:txBody>
          <a:bodyPr/>
          <a:p/>
        </p:txBody>
      </p:sp>
      <p:sp>
        <p:nvSpPr>
          <p:cNvPr id="5" name="Text 3"/>
          <p:cNvSpPr/>
          <p:nvPr/>
        </p:nvSpPr>
        <p:spPr>
          <a:xfrm>
            <a:off x="731520" y="5257800"/>
            <a:ext cx="5486400" cy="274320"/>
          </a:xfrm>
          <a:prstGeom prst="rect">
            <a:avLst/>
          </a:prstGeom>
          <a:noFill/>
        </p:spPr>
        <p:txBody>
          <a:bodyPr wrap="square" lIns="0" tIns="0" rIns="0" bIns="0" rtlCol="0" anchor="ctr"/>
          <a:lstStyle/>
          <a:p>
            <a:pPr marL="0" indent="0">
              <a:buNone/>
            </a:pPr>
            <a:r>
              <a:rPr lang="en-US" sz="1200" dirty="0">
                <a:solidFill>
                  <a:srgbClr val="C9D6EC"/>
                </a:solidFill>
                <a:latin typeface="Calibri" panose="020F0502020204030204" pitchFamily="34" charset="0"/>
                <a:ea typeface="Calibri" panose="020F0502020204030204" pitchFamily="34" charset="-122"/>
                <a:cs typeface="Calibri" panose="020F0502020204030204" pitchFamily="34" charset="-120"/>
              </a:rPr>
              <a:t>Presenter: Ahmed Abdullatif</a:t>
            </a:r>
            <a:endParaRPr lang="en-US" sz="1200" dirty="0"/>
          </a:p>
        </p:txBody>
      </p:sp>
      <p:sp>
        <p:nvSpPr>
          <p:cNvPr id="6" name="Text 4"/>
          <p:cNvSpPr/>
          <p:nvPr/>
        </p:nvSpPr>
        <p:spPr>
          <a:xfrm>
            <a:off x="731520" y="5532120"/>
            <a:ext cx="5486400" cy="274320"/>
          </a:xfrm>
          <a:prstGeom prst="rect">
            <a:avLst/>
          </a:prstGeom>
          <a:noFill/>
        </p:spPr>
        <p:txBody>
          <a:bodyPr wrap="square" lIns="0" tIns="0" rIns="0" bIns="0" rtlCol="0" anchor="ctr"/>
          <a:lstStyle/>
          <a:p>
            <a:pPr marL="0" indent="0">
              <a:buNone/>
            </a:pPr>
            <a:r>
              <a:rPr lang="en-US" sz="1200" dirty="0">
                <a:solidFill>
                  <a:srgbClr val="C9D6EC"/>
                </a:solidFill>
                <a:latin typeface="Calibri" panose="020F0502020204030204" pitchFamily="34" charset="0"/>
                <a:ea typeface="Calibri" panose="020F0502020204030204" pitchFamily="34" charset="-122"/>
                <a:cs typeface="Calibri" panose="020F0502020204030204" pitchFamily="34" charset="-120"/>
              </a:rPr>
              <a:t>Instructor: Eng. Mohamed Medhat Abdullatif</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F3864"/>
          </a:solidFill>
        </p:spPr>
        <p:txBody>
          <a:bodyPr/>
          <a:p/>
        </p:txBody>
      </p:sp>
      <p:sp>
        <p:nvSpPr>
          <p:cNvPr id="3" name="Text 1"/>
          <p:cNvSpPr/>
          <p:nvPr/>
        </p:nvSpPr>
        <p:spPr>
          <a:xfrm>
            <a:off x="457200" y="0"/>
            <a:ext cx="11274552" cy="86868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Problem Statement &amp; Objectives</a:t>
            </a:r>
            <a:endParaRPr lang="en-US" sz="2400" dirty="0"/>
          </a:p>
        </p:txBody>
      </p:sp>
      <p:sp>
        <p:nvSpPr>
          <p:cNvPr id="4" name="Text 2"/>
          <p:cNvSpPr/>
          <p:nvPr/>
        </p:nvSpPr>
        <p:spPr>
          <a:xfrm>
            <a:off x="548640" y="1234440"/>
            <a:ext cx="457200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GOAL</a:t>
            </a:r>
            <a:endParaRPr lang="en-US" sz="1100" dirty="0"/>
          </a:p>
        </p:txBody>
      </p:sp>
      <p:sp>
        <p:nvSpPr>
          <p:cNvPr id="5" name="Text 3"/>
          <p:cNvSpPr/>
          <p:nvPr/>
        </p:nvSpPr>
        <p:spPr>
          <a:xfrm>
            <a:off x="548640" y="1508760"/>
            <a:ext cx="5577840" cy="2103120"/>
          </a:xfrm>
          <a:prstGeom prst="rect">
            <a:avLst/>
          </a:prstGeom>
          <a:noFill/>
        </p:spPr>
        <p:txBody>
          <a:bodyPr wrap="square" rtlCol="0" anchor="t"/>
          <a:lstStyle/>
          <a:p>
            <a:pPr marL="177800" indent="-177800">
              <a:spcAft>
                <a:spcPts val="800"/>
              </a:spcAft>
              <a:buSzPct val="100000"/>
              <a:buChar char="•"/>
            </a:pPr>
            <a:r>
              <a:rPr lang="en-US" sz="1400" dirty="0">
                <a:solidFill>
                  <a:srgbClr val="262626"/>
                </a:solidFill>
                <a:latin typeface="Calibri" panose="020F0502020204030204" pitchFamily="34" charset="0"/>
                <a:ea typeface="Calibri" panose="020F0502020204030204" pitchFamily="34" charset="-122"/>
                <a:cs typeface="Calibri" panose="020F0502020204030204" pitchFamily="34" charset="-120"/>
              </a:rPr>
              <a:t>Automatically understand customer sentiment and classify reviews as Positive / Negative / Neutral</a:t>
            </a:r>
            <a:endParaRPr lang="en-US" sz="1400" dirty="0"/>
          </a:p>
          <a:p>
            <a:pPr marL="177800" indent="-177800">
              <a:spcAft>
                <a:spcPts val="800"/>
              </a:spcAft>
              <a:buSzPct val="100000"/>
              <a:buChar char="•"/>
            </a:pPr>
            <a:r>
              <a:rPr lang="en-US" sz="1400" dirty="0">
                <a:solidFill>
                  <a:srgbClr val="262626"/>
                </a:solidFill>
                <a:latin typeface="Calibri" panose="020F0502020204030204" pitchFamily="34" charset="0"/>
                <a:ea typeface="Calibri" panose="020F0502020204030204" pitchFamily="34" charset="-122"/>
                <a:cs typeface="Calibri" panose="020F0502020204030204" pitchFamily="34" charset="-120"/>
              </a:rPr>
              <a:t>Combine Supervised Learning (sentiment classification) with Unsupervised Learning (K-Means) to uncover the root causes behind negative reviews</a:t>
            </a:r>
            <a:endParaRPr lang="en-US" sz="1400" dirty="0"/>
          </a:p>
        </p:txBody>
      </p:sp>
      <p:sp>
        <p:nvSpPr>
          <p:cNvPr id="6" name="Text 4"/>
          <p:cNvSpPr/>
          <p:nvPr/>
        </p:nvSpPr>
        <p:spPr>
          <a:xfrm>
            <a:off x="548640" y="3794760"/>
            <a:ext cx="457200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DATASET</a:t>
            </a:r>
            <a:endParaRPr lang="en-US" sz="1100" dirty="0"/>
          </a:p>
        </p:txBody>
      </p:sp>
      <p:sp>
        <p:nvSpPr>
          <p:cNvPr id="7" name="Text 5"/>
          <p:cNvSpPr/>
          <p:nvPr/>
        </p:nvSpPr>
        <p:spPr>
          <a:xfrm>
            <a:off x="548640" y="4069080"/>
            <a:ext cx="5577840" cy="2377440"/>
          </a:xfrm>
          <a:prstGeom prst="rect">
            <a:avLst/>
          </a:prstGeom>
          <a:noFill/>
        </p:spPr>
        <p:txBody>
          <a:bodyPr wrap="square" rtlCol="0" anchor="t"/>
          <a:lstStyle/>
          <a:p>
            <a:pPr marL="177800" indent="-177800">
              <a:spcAft>
                <a:spcPts val="800"/>
              </a:spcAft>
              <a:buSzPct val="100000"/>
              <a:buChar char="•"/>
            </a:pPr>
            <a:r>
              <a:rPr lang="en-US" sz="1350" dirty="0">
                <a:solidFill>
                  <a:srgbClr val="262626"/>
                </a:solidFill>
                <a:latin typeface="Calibri" panose="020F0502020204030204" pitchFamily="34" charset="0"/>
                <a:ea typeface="Calibri" panose="020F0502020204030204" pitchFamily="34" charset="-122"/>
                <a:cs typeface="Calibri" panose="020F0502020204030204" pitchFamily="34" charset="-120"/>
              </a:rPr>
              <a:t>Women's E-Commerce Clothing Reviews — 23,486 raw reviews</a:t>
            </a:r>
            <a:endParaRPr lang="en-US" sz="1350" dirty="0"/>
          </a:p>
          <a:p>
            <a:pPr marL="177800" indent="-177800">
              <a:spcAft>
                <a:spcPts val="800"/>
              </a:spcAft>
              <a:buSzPct val="100000"/>
              <a:buChar char="•"/>
            </a:pPr>
            <a:r>
              <a:rPr lang="en-US" sz="1350" dirty="0">
                <a:solidFill>
                  <a:srgbClr val="262626"/>
                </a:solidFill>
                <a:latin typeface="Calibri" panose="020F0502020204030204" pitchFamily="34" charset="0"/>
                <a:ea typeface="Calibri" panose="020F0502020204030204" pitchFamily="34" charset="-122"/>
                <a:cs typeface="Calibri" panose="020F0502020204030204" pitchFamily="34" charset="-120"/>
              </a:rPr>
              <a:t>22,622 reviews after cleaning (missing values &amp; duplicates removed)</a:t>
            </a:r>
            <a:endParaRPr lang="en-US" sz="1350" dirty="0"/>
          </a:p>
          <a:p>
            <a:pPr marL="177800" indent="-177800">
              <a:spcAft>
                <a:spcPts val="800"/>
              </a:spcAft>
              <a:buSzPct val="100000"/>
              <a:buChar char="•"/>
            </a:pPr>
            <a:r>
              <a:rPr lang="en-US" sz="1350" dirty="0">
                <a:solidFill>
                  <a:srgbClr val="262626"/>
                </a:solidFill>
                <a:latin typeface="Calibri" panose="020F0502020204030204" pitchFamily="34" charset="0"/>
                <a:ea typeface="Calibri" panose="020F0502020204030204" pitchFamily="34" charset="-122"/>
                <a:cs typeface="Calibri" panose="020F0502020204030204" pitchFamily="34" charset="-120"/>
              </a:rPr>
              <a:t>Two classifiers compared: Logistic Regression vs Random Forest</a:t>
            </a:r>
            <a:endParaRPr lang="en-US" sz="1350" dirty="0"/>
          </a:p>
          <a:p>
            <a:pPr marL="177800" indent="-177800">
              <a:spcAft>
                <a:spcPts val="800"/>
              </a:spcAft>
              <a:buSzPct val="100000"/>
              <a:buChar char="•"/>
            </a:pPr>
            <a:r>
              <a:rPr lang="en-US" sz="1350" dirty="0">
                <a:solidFill>
                  <a:srgbClr val="262626"/>
                </a:solidFill>
                <a:latin typeface="Calibri" panose="020F0502020204030204" pitchFamily="34" charset="0"/>
                <a:ea typeface="Calibri" panose="020F0502020204030204" pitchFamily="34" charset="-122"/>
                <a:cs typeface="Calibri" panose="020F0502020204030204" pitchFamily="34" charset="-120"/>
              </a:rPr>
              <a:t>K-Means clustering applied to the 2,369 negative reviews</a:t>
            </a:r>
            <a:endParaRPr lang="en-US" sz="1350" dirty="0"/>
          </a:p>
        </p:txBody>
      </p:sp>
      <p:sp>
        <p:nvSpPr>
          <p:cNvPr id="8" name="Shape 6"/>
          <p:cNvSpPr/>
          <p:nvPr/>
        </p:nvSpPr>
        <p:spPr>
          <a:xfrm>
            <a:off x="6492240" y="1371600"/>
            <a:ext cx="5120640" cy="1051560"/>
          </a:xfrm>
          <a:prstGeom prst="rect">
            <a:avLst/>
          </a:prstGeom>
          <a:solidFill>
            <a:srgbClr val="F4F6FA"/>
          </a:solidFill>
        </p:spPr>
        <p:txBody>
          <a:bodyPr/>
          <a:p/>
        </p:txBody>
      </p:sp>
      <p:sp>
        <p:nvSpPr>
          <p:cNvPr id="9" name="Text 7"/>
          <p:cNvSpPr/>
          <p:nvPr/>
        </p:nvSpPr>
        <p:spPr>
          <a:xfrm>
            <a:off x="6864350" y="1518158"/>
            <a:ext cx="4663440" cy="548640"/>
          </a:xfrm>
          <a:prstGeom prst="rect">
            <a:avLst/>
          </a:prstGeom>
          <a:noFill/>
        </p:spPr>
        <p:txBody>
          <a:bodyPr wrap="square" lIns="0" tIns="0" rIns="0" bIns="0" rtlCol="0" anchor="ctr"/>
          <a:lstStyle/>
          <a:p>
            <a:pPr marL="0" indent="0">
              <a:buNone/>
            </a:pPr>
            <a:r>
              <a:rPr lang="en-US" sz="2800" b="1" dirty="0">
                <a:solidFill>
                  <a:srgbClr val="1F3864"/>
                </a:solidFill>
                <a:latin typeface="Calibri" panose="020F0502020204030204" pitchFamily="34" charset="0"/>
                <a:ea typeface="Calibri" panose="020F0502020204030204" pitchFamily="34" charset="-122"/>
                <a:cs typeface="Calibri" panose="020F0502020204030204" pitchFamily="34" charset="-120"/>
              </a:rPr>
              <a:t>23,486</a:t>
            </a:r>
            <a:endParaRPr lang="en-US" sz="2800" dirty="0"/>
          </a:p>
        </p:txBody>
      </p:sp>
      <p:sp>
        <p:nvSpPr>
          <p:cNvPr id="10" name="Text 8"/>
          <p:cNvSpPr/>
          <p:nvPr/>
        </p:nvSpPr>
        <p:spPr>
          <a:xfrm>
            <a:off x="6720840" y="2029968"/>
            <a:ext cx="4663440" cy="320040"/>
          </a:xfrm>
          <a:prstGeom prst="rect">
            <a:avLst/>
          </a:prstGeom>
          <a:noFill/>
        </p:spPr>
        <p:txBody>
          <a:bodyPr wrap="square" lIns="0" tIns="0" rIns="0" bIns="0" rtlCol="0" anchor="ctr"/>
          <a:lstStyle/>
          <a:p>
            <a:pPr marL="0" indent="0">
              <a:buNone/>
            </a:pPr>
            <a:r>
              <a:rPr lang="en-US" sz="1150" dirty="0">
                <a:solidFill>
                  <a:srgbClr val="6B7280"/>
                </a:solidFill>
                <a:latin typeface="Calibri" panose="020F0502020204030204" pitchFamily="34" charset="0"/>
                <a:ea typeface="Calibri" panose="020F0502020204030204" pitchFamily="34" charset="-122"/>
                <a:cs typeface="Calibri" panose="020F0502020204030204" pitchFamily="34" charset="-120"/>
              </a:rPr>
              <a:t>Raw reviews collected</a:t>
            </a:r>
            <a:endParaRPr lang="en-US" sz="1150" dirty="0"/>
          </a:p>
        </p:txBody>
      </p:sp>
      <p:sp>
        <p:nvSpPr>
          <p:cNvPr id="11" name="Shape 9"/>
          <p:cNvSpPr/>
          <p:nvPr/>
        </p:nvSpPr>
        <p:spPr>
          <a:xfrm>
            <a:off x="6492240" y="2606040"/>
            <a:ext cx="5120640" cy="1051560"/>
          </a:xfrm>
          <a:prstGeom prst="rect">
            <a:avLst/>
          </a:prstGeom>
          <a:solidFill>
            <a:srgbClr val="F4F6FA"/>
          </a:solidFill>
        </p:spPr>
        <p:txBody>
          <a:bodyPr/>
          <a:p/>
        </p:txBody>
      </p:sp>
      <p:sp>
        <p:nvSpPr>
          <p:cNvPr id="12" name="Text 10"/>
          <p:cNvSpPr/>
          <p:nvPr/>
        </p:nvSpPr>
        <p:spPr>
          <a:xfrm>
            <a:off x="6720840" y="2715768"/>
            <a:ext cx="4663440" cy="548640"/>
          </a:xfrm>
          <a:prstGeom prst="rect">
            <a:avLst/>
          </a:prstGeom>
          <a:noFill/>
        </p:spPr>
        <p:txBody>
          <a:bodyPr wrap="square" lIns="0" tIns="0" rIns="0" bIns="0" rtlCol="0" anchor="ctr"/>
          <a:lstStyle/>
          <a:p>
            <a:pPr marL="0" indent="0">
              <a:buNone/>
            </a:pPr>
            <a:r>
              <a:rPr lang="en-US" sz="2800" b="1" dirty="0">
                <a:solidFill>
                  <a:srgbClr val="1F3864"/>
                </a:solidFill>
                <a:latin typeface="Calibri" panose="020F0502020204030204" pitchFamily="34" charset="0"/>
                <a:ea typeface="Calibri" panose="020F0502020204030204" pitchFamily="34" charset="-122"/>
                <a:cs typeface="Calibri" panose="020F0502020204030204" pitchFamily="34" charset="-120"/>
              </a:rPr>
              <a:t>22,622</a:t>
            </a:r>
            <a:endParaRPr lang="en-US" sz="2800" dirty="0"/>
          </a:p>
        </p:txBody>
      </p:sp>
      <p:sp>
        <p:nvSpPr>
          <p:cNvPr id="13" name="Text 11"/>
          <p:cNvSpPr/>
          <p:nvPr/>
        </p:nvSpPr>
        <p:spPr>
          <a:xfrm>
            <a:off x="6720840" y="3264408"/>
            <a:ext cx="4663440" cy="320040"/>
          </a:xfrm>
          <a:prstGeom prst="rect">
            <a:avLst/>
          </a:prstGeom>
          <a:noFill/>
        </p:spPr>
        <p:txBody>
          <a:bodyPr wrap="square" lIns="0" tIns="0" rIns="0" bIns="0" rtlCol="0" anchor="ctr"/>
          <a:lstStyle/>
          <a:p>
            <a:pPr marL="0" indent="0">
              <a:buNone/>
            </a:pPr>
            <a:r>
              <a:rPr lang="en-US" sz="1150" dirty="0">
                <a:solidFill>
                  <a:srgbClr val="6B7280"/>
                </a:solidFill>
                <a:latin typeface="Calibri" panose="020F0502020204030204" pitchFamily="34" charset="0"/>
                <a:ea typeface="Calibri" panose="020F0502020204030204" pitchFamily="34" charset="-122"/>
                <a:cs typeface="Calibri" panose="020F0502020204030204" pitchFamily="34" charset="-120"/>
              </a:rPr>
              <a:t>Reviews after cleaning</a:t>
            </a:r>
            <a:endParaRPr lang="en-US" sz="1150" dirty="0"/>
          </a:p>
        </p:txBody>
      </p:sp>
      <p:sp>
        <p:nvSpPr>
          <p:cNvPr id="14" name="Shape 12"/>
          <p:cNvSpPr/>
          <p:nvPr/>
        </p:nvSpPr>
        <p:spPr>
          <a:xfrm>
            <a:off x="6492240" y="3840480"/>
            <a:ext cx="5120640" cy="1051560"/>
          </a:xfrm>
          <a:prstGeom prst="rect">
            <a:avLst/>
          </a:prstGeom>
          <a:solidFill>
            <a:srgbClr val="F4F6FA"/>
          </a:solidFill>
        </p:spPr>
        <p:txBody>
          <a:bodyPr/>
          <a:p/>
        </p:txBody>
      </p:sp>
      <p:sp>
        <p:nvSpPr>
          <p:cNvPr id="15" name="Text 13"/>
          <p:cNvSpPr/>
          <p:nvPr/>
        </p:nvSpPr>
        <p:spPr>
          <a:xfrm>
            <a:off x="6720840" y="3950208"/>
            <a:ext cx="4663440" cy="548640"/>
          </a:xfrm>
          <a:prstGeom prst="rect">
            <a:avLst/>
          </a:prstGeom>
          <a:noFill/>
        </p:spPr>
        <p:txBody>
          <a:bodyPr wrap="square" lIns="0" tIns="0" rIns="0" bIns="0" rtlCol="0" anchor="ctr"/>
          <a:lstStyle/>
          <a:p>
            <a:pPr marL="0" indent="0">
              <a:buNone/>
            </a:pPr>
            <a:r>
              <a:rPr lang="en-US" sz="2800" b="1" dirty="0">
                <a:solidFill>
                  <a:srgbClr val="1F3864"/>
                </a:solidFill>
                <a:latin typeface="Calibri" panose="020F0502020204030204" pitchFamily="34" charset="0"/>
                <a:ea typeface="Calibri" panose="020F0502020204030204" pitchFamily="34" charset="-122"/>
                <a:cs typeface="Calibri" panose="020F0502020204030204" pitchFamily="34" charset="-120"/>
              </a:rPr>
              <a:t>2,369</a:t>
            </a:r>
            <a:endParaRPr lang="en-US" sz="2800" dirty="0"/>
          </a:p>
        </p:txBody>
      </p:sp>
      <p:sp>
        <p:nvSpPr>
          <p:cNvPr id="16" name="Text 14"/>
          <p:cNvSpPr/>
          <p:nvPr/>
        </p:nvSpPr>
        <p:spPr>
          <a:xfrm>
            <a:off x="6720840" y="4498848"/>
            <a:ext cx="4663440" cy="320040"/>
          </a:xfrm>
          <a:prstGeom prst="rect">
            <a:avLst/>
          </a:prstGeom>
          <a:noFill/>
        </p:spPr>
        <p:txBody>
          <a:bodyPr wrap="square" lIns="0" tIns="0" rIns="0" bIns="0" rtlCol="0" anchor="ctr"/>
          <a:lstStyle/>
          <a:p>
            <a:pPr marL="0" indent="0">
              <a:buNone/>
            </a:pPr>
            <a:r>
              <a:rPr lang="en-US" sz="1150" dirty="0">
                <a:solidFill>
                  <a:srgbClr val="6B7280"/>
                </a:solidFill>
                <a:latin typeface="Calibri" panose="020F0502020204030204" pitchFamily="34" charset="0"/>
                <a:ea typeface="Calibri" panose="020F0502020204030204" pitchFamily="34" charset="-122"/>
                <a:cs typeface="Calibri" panose="020F0502020204030204" pitchFamily="34" charset="-120"/>
              </a:rPr>
              <a:t>Negative reviews clustered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F3864"/>
          </a:solidFill>
        </p:spPr>
        <p:txBody>
          <a:bodyPr/>
          <a:p/>
        </p:txBody>
      </p:sp>
      <p:sp>
        <p:nvSpPr>
          <p:cNvPr id="3" name="Text 1"/>
          <p:cNvSpPr/>
          <p:nvPr/>
        </p:nvSpPr>
        <p:spPr>
          <a:xfrm>
            <a:off x="457200" y="0"/>
            <a:ext cx="11274552" cy="86868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Exploratory Data Analysis</a:t>
            </a:r>
            <a:endParaRPr lang="en-US" sz="2400" dirty="0"/>
          </a:p>
        </p:txBody>
      </p:sp>
      <p:sp>
        <p:nvSpPr>
          <p:cNvPr id="4" name="Text 2"/>
          <p:cNvSpPr/>
          <p:nvPr/>
        </p:nvSpPr>
        <p:spPr>
          <a:xfrm>
            <a:off x="457200" y="868680"/>
            <a:ext cx="11274552" cy="292608"/>
          </a:xfrm>
          <a:prstGeom prst="rect">
            <a:avLst/>
          </a:prstGeom>
          <a:noFill/>
        </p:spPr>
        <p:txBody>
          <a:bodyPr wrap="square" lIns="0" tIns="0" rIns="0" bIns="0" rtlCol="0" anchor="ctr"/>
          <a:lstStyle/>
          <a:p>
            <a:pPr marL="0" indent="0">
              <a:buNone/>
            </a:pPr>
            <a:endParaRPr lang="en-US" sz="1100" dirty="0"/>
          </a:p>
        </p:txBody>
      </p:sp>
      <p:sp>
        <p:nvSpPr>
          <p:cNvPr id="5" name="Text 3"/>
          <p:cNvSpPr/>
          <p:nvPr/>
        </p:nvSpPr>
        <p:spPr>
          <a:xfrm>
            <a:off x="548640" y="1188720"/>
            <a:ext cx="512064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SENTIMENT DISTRIBUTION</a:t>
            </a:r>
            <a:endParaRPr lang="en-US" sz="1100" dirty="0"/>
          </a:p>
        </p:txBody>
      </p:sp>
      <p:sp>
        <p:nvSpPr>
          <p:cNvPr id="6" name="Shape 4"/>
          <p:cNvSpPr/>
          <p:nvPr/>
        </p:nvSpPr>
        <p:spPr>
          <a:xfrm>
            <a:off x="548640" y="1481328"/>
            <a:ext cx="5212080" cy="2331720"/>
          </a:xfrm>
          <a:prstGeom prst="rect">
            <a:avLst/>
          </a:prstGeom>
          <a:solidFill>
            <a:srgbClr val="FBFCFE"/>
          </a:solidFill>
          <a:ln w="9525">
            <a:solidFill>
              <a:srgbClr val="E2E6EC"/>
            </a:solidFill>
            <a:prstDash val="solid"/>
          </a:ln>
        </p:spPr>
        <p:txBody>
          <a:bodyPr/>
          <a:p/>
        </p:txBody>
      </p:sp>
      <p:pic>
        <p:nvPicPr>
          <p:cNvPr id="7" name="Image 0" descr="chart_sentiment.png"/>
          <p:cNvPicPr>
            <a:picLocks noChangeAspect="1"/>
          </p:cNvPicPr>
          <p:nvPr/>
        </p:nvPicPr>
        <p:blipFill>
          <a:blip r:embed="rId1"/>
          <a:stretch>
            <a:fillRect/>
          </a:stretch>
        </p:blipFill>
        <p:spPr>
          <a:xfrm>
            <a:off x="1448142" y="1527048"/>
            <a:ext cx="3413076" cy="2240280"/>
          </a:xfrm>
          <a:prstGeom prst="rect">
            <a:avLst/>
          </a:prstGeom>
        </p:spPr>
      </p:pic>
      <p:sp>
        <p:nvSpPr>
          <p:cNvPr id="8" name="Text 5"/>
          <p:cNvSpPr/>
          <p:nvPr/>
        </p:nvSpPr>
        <p:spPr>
          <a:xfrm>
            <a:off x="6446520" y="1188720"/>
            <a:ext cx="512064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REVIEW RATING DISTRIBUTION</a:t>
            </a:r>
            <a:endParaRPr lang="en-US" sz="1100" dirty="0"/>
          </a:p>
        </p:txBody>
      </p:sp>
      <p:sp>
        <p:nvSpPr>
          <p:cNvPr id="9" name="Shape 6"/>
          <p:cNvSpPr/>
          <p:nvPr/>
        </p:nvSpPr>
        <p:spPr>
          <a:xfrm>
            <a:off x="6446520" y="1481328"/>
            <a:ext cx="5120640" cy="2331720"/>
          </a:xfrm>
          <a:prstGeom prst="rect">
            <a:avLst/>
          </a:prstGeom>
          <a:solidFill>
            <a:srgbClr val="FBFCFE"/>
          </a:solidFill>
          <a:ln w="9525">
            <a:solidFill>
              <a:srgbClr val="E2E6EC"/>
            </a:solidFill>
            <a:prstDash val="solid"/>
          </a:ln>
        </p:spPr>
        <p:txBody>
          <a:bodyPr/>
          <a:p/>
        </p:txBody>
      </p:sp>
      <p:pic>
        <p:nvPicPr>
          <p:cNvPr id="10" name="Image 1" descr="chart_rating.png"/>
          <p:cNvPicPr>
            <a:picLocks noChangeAspect="1"/>
          </p:cNvPicPr>
          <p:nvPr/>
        </p:nvPicPr>
        <p:blipFill>
          <a:blip r:embed="rId2"/>
          <a:stretch>
            <a:fillRect/>
          </a:stretch>
        </p:blipFill>
        <p:spPr>
          <a:xfrm>
            <a:off x="7300302" y="1527048"/>
            <a:ext cx="3413076" cy="2240280"/>
          </a:xfrm>
          <a:prstGeom prst="rect">
            <a:avLst/>
          </a:prstGeom>
        </p:spPr>
      </p:pic>
      <p:sp>
        <p:nvSpPr>
          <p:cNvPr id="11" name="Text 7"/>
          <p:cNvSpPr/>
          <p:nvPr/>
        </p:nvSpPr>
        <p:spPr>
          <a:xfrm>
            <a:off x="548640" y="4069080"/>
            <a:ext cx="548640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KEY EDA NUMBERS</a:t>
            </a:r>
            <a:endParaRPr lang="en-US" sz="1100" dirty="0"/>
          </a:p>
        </p:txBody>
      </p:sp>
      <p:graphicFrame>
        <p:nvGraphicFramePr>
          <p:cNvPr id="12" name="Table 0"/>
          <p:cNvGraphicFramePr>
            <a:graphicFrameLocks noGrp="1"/>
          </p:cNvGraphicFramePr>
          <p:nvPr/>
        </p:nvGraphicFramePr>
        <p:xfrm>
          <a:off x="548640" y="4343400"/>
          <a:ext cx="11064240" cy="1737360"/>
        </p:xfrm>
        <a:graphic>
          <a:graphicData uri="http://schemas.openxmlformats.org/drawingml/2006/table">
            <a:tbl>
              <a:tblPr/>
              <a:tblGrid>
                <a:gridCol w="6858000"/>
                <a:gridCol w="4206240"/>
              </a:tblGrid>
              <a:tr h="347472">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Metric</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Value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r>
              <a:tr h="347472">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Average rating </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4.18 </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r h="347472">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Positive reviews</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17,430 </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r h="347472">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Neutral reviews</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2,823 </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r h="347472">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Negative reviews</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2,369 </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F3864"/>
          </a:solidFill>
        </p:spPr>
        <p:txBody>
          <a:bodyPr/>
          <a:p/>
        </p:txBody>
      </p:sp>
      <p:sp>
        <p:nvSpPr>
          <p:cNvPr id="3" name="Text 1"/>
          <p:cNvSpPr/>
          <p:nvPr/>
        </p:nvSpPr>
        <p:spPr>
          <a:xfrm>
            <a:off x="457200" y="0"/>
            <a:ext cx="11274552" cy="86868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Cleaning &amp; Text Preprocessing</a:t>
            </a:r>
            <a:endParaRPr lang="en-US" sz="2400" dirty="0"/>
          </a:p>
        </p:txBody>
      </p:sp>
      <p:sp>
        <p:nvSpPr>
          <p:cNvPr id="4" name="Text 2"/>
          <p:cNvSpPr/>
          <p:nvPr/>
        </p:nvSpPr>
        <p:spPr>
          <a:xfrm>
            <a:off x="548640" y="1234440"/>
            <a:ext cx="548640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DATA CLEANING</a:t>
            </a:r>
            <a:endParaRPr lang="en-US" sz="1100" dirty="0"/>
          </a:p>
        </p:txBody>
      </p:sp>
      <p:sp>
        <p:nvSpPr>
          <p:cNvPr id="5" name="Text 3"/>
          <p:cNvSpPr/>
          <p:nvPr/>
        </p:nvSpPr>
        <p:spPr>
          <a:xfrm>
            <a:off x="548640" y="1554480"/>
            <a:ext cx="5394960" cy="2377440"/>
          </a:xfrm>
          <a:prstGeom prst="rect">
            <a:avLst/>
          </a:prstGeom>
          <a:noFill/>
        </p:spPr>
        <p:txBody>
          <a:bodyPr wrap="square" rtlCol="0" anchor="t"/>
          <a:lstStyle/>
          <a:p>
            <a:pPr marL="177800" indent="-177800">
              <a:spcAft>
                <a:spcPts val="800"/>
              </a:spcAft>
              <a:buSzPct val="100000"/>
              <a:buChar char="•"/>
            </a:pPr>
            <a:r>
              <a:rPr lang="en-US" sz="1300" dirty="0">
                <a:solidFill>
                  <a:srgbClr val="262626"/>
                </a:solidFill>
                <a:latin typeface="Calibri" panose="020F0502020204030204" pitchFamily="34" charset="0"/>
                <a:ea typeface="Calibri" panose="020F0502020204030204" pitchFamily="34" charset="-122"/>
                <a:cs typeface="Calibri" panose="020F0502020204030204" pitchFamily="34" charset="-120"/>
              </a:rPr>
              <a:t>23,486 → 22,628 rows (dropna)</a:t>
            </a:r>
            <a:endParaRPr lang="en-US" sz="1300" dirty="0"/>
          </a:p>
          <a:p>
            <a:pPr marL="177800" indent="-177800">
              <a:spcAft>
                <a:spcPts val="800"/>
              </a:spcAft>
              <a:buSzPct val="100000"/>
              <a:buChar char="•"/>
            </a:pPr>
            <a:r>
              <a:rPr lang="en-US" sz="1300" dirty="0">
                <a:solidFill>
                  <a:srgbClr val="262626"/>
                </a:solidFill>
                <a:latin typeface="Calibri" panose="020F0502020204030204" pitchFamily="34" charset="0"/>
                <a:ea typeface="Calibri" panose="020F0502020204030204" pitchFamily="34" charset="-122"/>
                <a:cs typeface="Calibri" panose="020F0502020204030204" pitchFamily="34" charset="-120"/>
              </a:rPr>
              <a:t>22,628 → 22,622 rows (drop_duplicates)</a:t>
            </a:r>
            <a:endParaRPr lang="en-US" sz="1300" dirty="0"/>
          </a:p>
          <a:p>
            <a:pPr marL="177800" indent="-177800">
              <a:spcAft>
                <a:spcPts val="800"/>
              </a:spcAft>
              <a:buSzPct val="100000"/>
              <a:buChar char="•"/>
            </a:pPr>
            <a:r>
              <a:rPr lang="en-US" sz="1300" dirty="0">
                <a:solidFill>
                  <a:srgbClr val="262626"/>
                </a:solidFill>
                <a:latin typeface="Calibri" panose="020F0502020204030204" pitchFamily="34" charset="0"/>
                <a:ea typeface="Calibri" panose="020F0502020204030204" pitchFamily="34" charset="-122"/>
                <a:cs typeface="Calibri" panose="020F0502020204030204" pitchFamily="34" charset="-120"/>
              </a:rPr>
              <a:t>Kept: Review Text, Rating, Class Name, Recommended IND</a:t>
            </a:r>
            <a:endParaRPr lang="en-US" sz="1300" dirty="0"/>
          </a:p>
          <a:p>
            <a:pPr marL="177800" indent="-177800">
              <a:spcAft>
                <a:spcPts val="800"/>
              </a:spcAft>
              <a:buSzPct val="100000"/>
              <a:buChar char="•"/>
            </a:pPr>
            <a:r>
              <a:rPr lang="en-US" sz="1300" dirty="0">
                <a:solidFill>
                  <a:srgbClr val="262626"/>
                </a:solidFill>
                <a:latin typeface="Calibri" panose="020F0502020204030204" pitchFamily="34" charset="0"/>
                <a:ea typeface="Calibri" panose="020F0502020204030204" pitchFamily="34" charset="-122"/>
                <a:cs typeface="Calibri" panose="020F0502020204030204" pitchFamily="34" charset="-120"/>
              </a:rPr>
              <a:t>Columns renamed for clarity (Product Category, Recommendation Indicator)</a:t>
            </a:r>
            <a:endParaRPr lang="en-US" sz="1300" dirty="0"/>
          </a:p>
        </p:txBody>
      </p:sp>
      <p:sp>
        <p:nvSpPr>
          <p:cNvPr id="6" name="Text 4"/>
          <p:cNvSpPr/>
          <p:nvPr/>
        </p:nvSpPr>
        <p:spPr>
          <a:xfrm>
            <a:off x="6263640" y="1234440"/>
            <a:ext cx="548640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TEXT NORMALIZATION</a:t>
            </a:r>
            <a:endParaRPr lang="en-US" sz="1100" dirty="0"/>
          </a:p>
        </p:txBody>
      </p:sp>
      <p:sp>
        <p:nvSpPr>
          <p:cNvPr id="7" name="Text 5"/>
          <p:cNvSpPr/>
          <p:nvPr/>
        </p:nvSpPr>
        <p:spPr>
          <a:xfrm>
            <a:off x="6263640" y="1554480"/>
            <a:ext cx="5394960" cy="2377440"/>
          </a:xfrm>
          <a:prstGeom prst="rect">
            <a:avLst/>
          </a:prstGeom>
          <a:noFill/>
        </p:spPr>
        <p:txBody>
          <a:bodyPr wrap="square" rtlCol="0" anchor="t"/>
          <a:lstStyle/>
          <a:p>
            <a:pPr marL="177800" indent="-177800">
              <a:spcAft>
                <a:spcPts val="800"/>
              </a:spcAft>
              <a:buSzPct val="100000"/>
              <a:buChar char="•"/>
            </a:pPr>
            <a:r>
              <a:rPr lang="en-US" sz="1300" dirty="0">
                <a:solidFill>
                  <a:srgbClr val="262626"/>
                </a:solidFill>
                <a:latin typeface="Calibri" panose="020F0502020204030204" pitchFamily="34" charset="0"/>
                <a:ea typeface="Calibri" panose="020F0502020204030204" pitchFamily="34" charset="-122"/>
                <a:cs typeface="Calibri" panose="020F0502020204030204" pitchFamily="34" charset="-120"/>
              </a:rPr>
              <a:t>Lower-case the full review text</a:t>
            </a:r>
            <a:endParaRPr lang="en-US" sz="1300" dirty="0"/>
          </a:p>
          <a:p>
            <a:pPr marL="177800" indent="-177800">
              <a:spcAft>
                <a:spcPts val="800"/>
              </a:spcAft>
              <a:buSzPct val="100000"/>
              <a:buChar char="•"/>
            </a:pPr>
            <a:r>
              <a:rPr lang="en-US" sz="1300" dirty="0">
                <a:solidFill>
                  <a:srgbClr val="262626"/>
                </a:solidFill>
                <a:latin typeface="Calibri" panose="020F0502020204030204" pitchFamily="34" charset="0"/>
                <a:ea typeface="Calibri" panose="020F0502020204030204" pitchFamily="34" charset="-122"/>
                <a:cs typeface="Calibri" panose="020F0502020204030204" pitchFamily="34" charset="-120"/>
              </a:rPr>
              <a:t>Tokenize with NLTK word_tokenize</a:t>
            </a:r>
            <a:endParaRPr lang="en-US" sz="1300" dirty="0"/>
          </a:p>
          <a:p>
            <a:pPr marL="177800" indent="-177800">
              <a:spcAft>
                <a:spcPts val="800"/>
              </a:spcAft>
              <a:buSzPct val="100000"/>
              <a:buChar char="•"/>
            </a:pPr>
            <a:r>
              <a:rPr lang="en-US" sz="1300" dirty="0">
                <a:solidFill>
                  <a:srgbClr val="262626"/>
                </a:solidFill>
                <a:latin typeface="Calibri" panose="020F0502020204030204" pitchFamily="34" charset="0"/>
                <a:ea typeface="Calibri" panose="020F0502020204030204" pitchFamily="34" charset="-122"/>
                <a:cs typeface="Calibri" panose="020F0502020204030204" pitchFamily="34" charset="-120"/>
              </a:rPr>
              <a:t>Keep alphabetic tokens only (isalpha)</a:t>
            </a:r>
            <a:endParaRPr lang="en-US" sz="1300" dirty="0"/>
          </a:p>
          <a:p>
            <a:pPr marL="177800" indent="-177800">
              <a:spcAft>
                <a:spcPts val="800"/>
              </a:spcAft>
              <a:buSzPct val="100000"/>
              <a:buChar char="•"/>
            </a:pPr>
            <a:r>
              <a:rPr lang="en-US" sz="1300" dirty="0">
                <a:solidFill>
                  <a:srgbClr val="262626"/>
                </a:solidFill>
                <a:latin typeface="Calibri" panose="020F0502020204030204" pitchFamily="34" charset="0"/>
                <a:ea typeface="Calibri" panose="020F0502020204030204" pitchFamily="34" charset="-122"/>
                <a:cs typeface="Calibri" panose="020F0502020204030204" pitchFamily="34" charset="-120"/>
              </a:rPr>
              <a:t>Remove English stopwords (NLTK)</a:t>
            </a:r>
            <a:endParaRPr lang="en-US" sz="1300" dirty="0"/>
          </a:p>
          <a:p>
            <a:pPr marL="177800" indent="-177800">
              <a:spcAft>
                <a:spcPts val="800"/>
              </a:spcAft>
              <a:buSzPct val="100000"/>
              <a:buChar char="•"/>
            </a:pPr>
            <a:r>
              <a:rPr lang="en-US" sz="1300" dirty="0">
                <a:solidFill>
                  <a:srgbClr val="262626"/>
                </a:solidFill>
                <a:latin typeface="Calibri" panose="020F0502020204030204" pitchFamily="34" charset="0"/>
                <a:ea typeface="Calibri" panose="020F0502020204030204" pitchFamily="34" charset="-122"/>
                <a:cs typeface="Calibri" panose="020F0502020204030204" pitchFamily="34" charset="-120"/>
              </a:rPr>
              <a:t>Rejoin tokens → 'Clean Review' column</a:t>
            </a:r>
            <a:endParaRPr lang="en-US" sz="1300" dirty="0"/>
          </a:p>
        </p:txBody>
      </p:sp>
      <p:sp>
        <p:nvSpPr>
          <p:cNvPr id="8" name="Shape 6"/>
          <p:cNvSpPr/>
          <p:nvPr/>
        </p:nvSpPr>
        <p:spPr>
          <a:xfrm>
            <a:off x="548640" y="4160520"/>
            <a:ext cx="11064240" cy="1920240"/>
          </a:xfrm>
          <a:prstGeom prst="rect">
            <a:avLst/>
          </a:prstGeom>
          <a:solidFill>
            <a:srgbClr val="F4F6FA"/>
          </a:solidFill>
        </p:spPr>
        <p:txBody>
          <a:bodyPr/>
          <a:p/>
        </p:txBody>
      </p:sp>
      <p:sp>
        <p:nvSpPr>
          <p:cNvPr id="9" name="Text 7"/>
          <p:cNvSpPr/>
          <p:nvPr/>
        </p:nvSpPr>
        <p:spPr>
          <a:xfrm>
            <a:off x="822960" y="4297680"/>
            <a:ext cx="731520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WHY THESE STEPS (TECHNICAL RATIONALE)</a:t>
            </a:r>
            <a:endParaRPr lang="en-US" sz="1100" dirty="0"/>
          </a:p>
        </p:txBody>
      </p:sp>
      <p:sp>
        <p:nvSpPr>
          <p:cNvPr id="10" name="Text 8"/>
          <p:cNvSpPr/>
          <p:nvPr/>
        </p:nvSpPr>
        <p:spPr>
          <a:xfrm>
            <a:off x="822960" y="4617720"/>
            <a:ext cx="10515600" cy="1371600"/>
          </a:xfrm>
          <a:prstGeom prst="rect">
            <a:avLst/>
          </a:prstGeom>
          <a:noFill/>
        </p:spPr>
        <p:txBody>
          <a:bodyPr wrap="square" rtlCol="0" anchor="t"/>
          <a:lstStyle/>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isalpha() strips digits, punctuation and emoji — noise that TF-IDF cannot weight meaningfully</a:t>
            </a:r>
            <a:endParaRPr lang="en-US" sz="1200" dirty="0"/>
          </a:p>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Lower-casing prevents 'Great' and 'great' from being counted as two different features</a:t>
            </a:r>
            <a:endParaRPr lang="en-US" sz="1200" dirty="0"/>
          </a:p>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Stopword removal shrinks the vocabulary so TF-IDF focuses weight on content-bearing words</a:t>
            </a:r>
            <a:endParaRPr lang="en-US" sz="1200" dirty="0"/>
          </a:p>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dropna / drop_duplicates guarantee one clean record per genuine review </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F3864"/>
          </a:solidFill>
        </p:spPr>
        <p:txBody>
          <a:bodyPr/>
          <a:p/>
        </p:txBody>
      </p:sp>
      <p:sp>
        <p:nvSpPr>
          <p:cNvPr id="3" name="Text 1"/>
          <p:cNvSpPr/>
          <p:nvPr/>
        </p:nvSpPr>
        <p:spPr>
          <a:xfrm>
            <a:off x="457200" y="0"/>
            <a:ext cx="11274552" cy="86868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Most Common Words</a:t>
            </a:r>
            <a:endParaRPr lang="en-US" sz="2400" dirty="0"/>
          </a:p>
        </p:txBody>
      </p:sp>
      <p:sp>
        <p:nvSpPr>
          <p:cNvPr id="4" name="Text 2"/>
          <p:cNvSpPr/>
          <p:nvPr/>
        </p:nvSpPr>
        <p:spPr>
          <a:xfrm>
            <a:off x="457200" y="868680"/>
            <a:ext cx="11274552" cy="292608"/>
          </a:xfrm>
          <a:prstGeom prst="rect">
            <a:avLst/>
          </a:prstGeom>
          <a:noFill/>
        </p:spPr>
        <p:txBody>
          <a:bodyPr wrap="square" lIns="0" tIns="0" rIns="0" bIns="0" rtlCol="0" anchor="ctr"/>
          <a:lstStyle/>
          <a:p>
            <a:pPr marL="0" indent="0">
              <a:buNone/>
            </a:pPr>
            <a:endParaRPr lang="en-US" sz="1100" dirty="0"/>
          </a:p>
        </p:txBody>
      </p:sp>
      <p:sp>
        <p:nvSpPr>
          <p:cNvPr id="5" name="Shape 3"/>
          <p:cNvSpPr/>
          <p:nvPr/>
        </p:nvSpPr>
        <p:spPr>
          <a:xfrm>
            <a:off x="548640" y="1280160"/>
            <a:ext cx="6949440" cy="4800600"/>
          </a:xfrm>
          <a:prstGeom prst="rect">
            <a:avLst/>
          </a:prstGeom>
          <a:solidFill>
            <a:srgbClr val="FBFCFE"/>
          </a:solidFill>
          <a:ln w="9525">
            <a:solidFill>
              <a:srgbClr val="E2E6EC"/>
            </a:solidFill>
            <a:prstDash val="solid"/>
          </a:ln>
        </p:spPr>
        <p:txBody>
          <a:bodyPr/>
          <a:p/>
        </p:txBody>
      </p:sp>
      <p:pic>
        <p:nvPicPr>
          <p:cNvPr id="6" name="Image 0" descr="chart_words.png"/>
          <p:cNvPicPr>
            <a:picLocks noChangeAspect="1"/>
          </p:cNvPicPr>
          <p:nvPr/>
        </p:nvPicPr>
        <p:blipFill>
          <a:blip r:embed="rId1"/>
          <a:stretch>
            <a:fillRect/>
          </a:stretch>
        </p:blipFill>
        <p:spPr>
          <a:xfrm>
            <a:off x="685800" y="1603220"/>
            <a:ext cx="6766560" cy="4200200"/>
          </a:xfrm>
          <a:prstGeom prst="rect">
            <a:avLst/>
          </a:prstGeom>
        </p:spPr>
      </p:pic>
      <p:sp>
        <p:nvSpPr>
          <p:cNvPr id="7" name="Text 4"/>
          <p:cNvSpPr/>
          <p:nvPr/>
        </p:nvSpPr>
        <p:spPr>
          <a:xfrm>
            <a:off x="7772400" y="1280160"/>
            <a:ext cx="384048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WHY THIS MATTERS</a:t>
            </a:r>
            <a:endParaRPr lang="en-US" sz="1100" dirty="0"/>
          </a:p>
        </p:txBody>
      </p:sp>
      <p:sp>
        <p:nvSpPr>
          <p:cNvPr id="8" name="Text 5"/>
          <p:cNvSpPr/>
          <p:nvPr/>
        </p:nvSpPr>
        <p:spPr>
          <a:xfrm>
            <a:off x="7772400" y="1600200"/>
            <a:ext cx="4023360" cy="4114800"/>
          </a:xfrm>
          <a:prstGeom prst="rect">
            <a:avLst/>
          </a:prstGeom>
          <a:noFill/>
        </p:spPr>
        <p:txBody>
          <a:bodyPr wrap="square" rtlCol="0" anchor="t"/>
          <a:lstStyle/>
          <a:p>
            <a:pPr marL="177800" indent="-177800">
              <a:spcAft>
                <a:spcPts val="800"/>
              </a:spcAft>
              <a:buSzPct val="100000"/>
              <a:buChar char="•"/>
            </a:pPr>
            <a:r>
              <a:rPr lang="en-US" sz="1250" dirty="0">
                <a:solidFill>
                  <a:srgbClr val="262626"/>
                </a:solidFill>
                <a:latin typeface="Calibri" panose="020F0502020204030204" pitchFamily="34" charset="0"/>
                <a:ea typeface="Calibri" panose="020F0502020204030204" pitchFamily="34" charset="-122"/>
                <a:cs typeface="Calibri" panose="020F0502020204030204" pitchFamily="34" charset="-120"/>
              </a:rPr>
              <a:t>Confirms the cleaning pipeline worked — top words should be meaningful product/fit/quality terms, not stopwords or junk tokens</a:t>
            </a:r>
            <a:endParaRPr lang="en-US" sz="1250" dirty="0"/>
          </a:p>
          <a:p>
            <a:pPr marL="177800" indent="-177800">
              <a:spcAft>
                <a:spcPts val="800"/>
              </a:spcAft>
              <a:buSzPct val="100000"/>
              <a:buChar char="•"/>
            </a:pPr>
            <a:r>
              <a:rPr lang="en-US" sz="1250" dirty="0">
                <a:solidFill>
                  <a:srgbClr val="262626"/>
                </a:solidFill>
                <a:latin typeface="Calibri" panose="020F0502020204030204" pitchFamily="34" charset="0"/>
                <a:ea typeface="Calibri" panose="020F0502020204030204" pitchFamily="34" charset="-122"/>
                <a:cs typeface="Calibri" panose="020F0502020204030204" pitchFamily="34" charset="-120"/>
              </a:rPr>
              <a:t>Directly informs which words dominate the 5,000 TF-IDF features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F3864"/>
          </a:solidFill>
        </p:spPr>
        <p:txBody>
          <a:bodyPr/>
          <a:p/>
        </p:txBody>
      </p:sp>
      <p:sp>
        <p:nvSpPr>
          <p:cNvPr id="3" name="Text 1"/>
          <p:cNvSpPr/>
          <p:nvPr/>
        </p:nvSpPr>
        <p:spPr>
          <a:xfrm>
            <a:off x="457200" y="0"/>
            <a:ext cx="11274552" cy="86868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Feature Extraction — TF-IDF</a:t>
            </a:r>
            <a:endParaRPr lang="en-US" sz="2400" dirty="0"/>
          </a:p>
        </p:txBody>
      </p:sp>
      <p:sp>
        <p:nvSpPr>
          <p:cNvPr id="4" name="Text 2"/>
          <p:cNvSpPr/>
          <p:nvPr/>
        </p:nvSpPr>
        <p:spPr>
          <a:xfrm>
            <a:off x="548640" y="1234440"/>
            <a:ext cx="6675120" cy="2743200"/>
          </a:xfrm>
          <a:prstGeom prst="rect">
            <a:avLst/>
          </a:prstGeom>
          <a:noFill/>
        </p:spPr>
        <p:txBody>
          <a:bodyPr wrap="square" rtlCol="0" anchor="t"/>
          <a:lstStyle/>
          <a:p>
            <a:pPr marL="177800" indent="-177800">
              <a:spcAft>
                <a:spcPts val="800"/>
              </a:spcAft>
              <a:buSzPct val="100000"/>
              <a:buChar char="•"/>
            </a:pPr>
            <a:r>
              <a:rPr lang="en-US" sz="1400" dirty="0">
                <a:solidFill>
                  <a:srgbClr val="262626"/>
                </a:solidFill>
                <a:latin typeface="Calibri" panose="020F0502020204030204" pitchFamily="34" charset="0"/>
                <a:ea typeface="Calibri" panose="020F0502020204030204" pitchFamily="34" charset="-122"/>
                <a:cs typeface="Calibri" panose="020F0502020204030204" pitchFamily="34" charset="-120"/>
              </a:rPr>
              <a:t>TfidfVectorizer(max_features=5000) turns cleaned review text into numeric features</a:t>
            </a:r>
            <a:endParaRPr lang="en-US" sz="1400" dirty="0"/>
          </a:p>
          <a:p>
            <a:pPr marL="177800" indent="-177800">
              <a:spcAft>
                <a:spcPts val="800"/>
              </a:spcAft>
              <a:buSzPct val="100000"/>
              <a:buChar char="•"/>
            </a:pPr>
            <a:r>
              <a:rPr lang="en-US" sz="1400" dirty="0">
                <a:solidFill>
                  <a:srgbClr val="262626"/>
                </a:solidFill>
                <a:latin typeface="Calibri" panose="020F0502020204030204" pitchFamily="34" charset="0"/>
                <a:ea typeface="Calibri" panose="020F0502020204030204" pitchFamily="34" charset="-122"/>
                <a:cs typeface="Calibri" panose="020F0502020204030204" pitchFamily="34" charset="-120"/>
              </a:rPr>
              <a:t>Fitted on the training reviews only, then applied to the test reviews (no test-set leakage)</a:t>
            </a:r>
            <a:endParaRPr lang="en-US" sz="1400" dirty="0"/>
          </a:p>
          <a:p>
            <a:pPr marL="177800" indent="-177800">
              <a:spcAft>
                <a:spcPts val="800"/>
              </a:spcAft>
              <a:buSzPct val="100000"/>
              <a:buChar char="•"/>
            </a:pPr>
            <a:r>
              <a:rPr lang="en-US" sz="1400" dirty="0">
                <a:solidFill>
                  <a:srgbClr val="262626"/>
                </a:solidFill>
                <a:latin typeface="Calibri" panose="020F0502020204030204" pitchFamily="34" charset="0"/>
                <a:ea typeface="Calibri" panose="020F0502020204030204" pitchFamily="34" charset="-122"/>
                <a:cs typeface="Calibri" panose="020F0502020204030204" pitchFamily="34" charset="-120"/>
              </a:rPr>
              <a:t>Sentiment label derived from Rating: </a:t>
            </a:r>
            <a:r>
              <a:rPr lang="ar-EG" altLang="en-US" sz="1400" dirty="0">
                <a:solidFill>
                  <a:srgbClr val="262626"/>
                </a:solidFill>
                <a:latin typeface="Calibri" panose="020F0502020204030204" pitchFamily="34" charset="0"/>
                <a:ea typeface="Calibri" panose="020F0502020204030204" pitchFamily="34" charset="-122"/>
                <a:cs typeface="Calibri" panose="020F0502020204030204" pitchFamily="34" charset="-120"/>
              </a:rPr>
              <a:t> </a:t>
            </a:r>
            <a:r>
              <a:rPr lang="en-US" sz="1400" dirty="0">
                <a:solidFill>
                  <a:srgbClr val="262626"/>
                </a:solidFill>
                <a:latin typeface="Calibri" panose="020F0502020204030204" pitchFamily="34" charset="0"/>
                <a:ea typeface="Calibri" panose="020F0502020204030204" pitchFamily="34" charset="-122"/>
                <a:cs typeface="Calibri" panose="020F0502020204030204" pitchFamily="34" charset="-120"/>
              </a:rPr>
              <a:t>≤</a:t>
            </a:r>
            <a:r>
              <a:rPr lang="ar-EG" altLang="en-US" sz="1400" dirty="0">
                <a:solidFill>
                  <a:srgbClr val="262626"/>
                </a:solidFill>
                <a:latin typeface="Calibri" panose="020F0502020204030204" pitchFamily="34" charset="0"/>
                <a:ea typeface="Calibri" panose="020F0502020204030204" pitchFamily="34" charset="-122"/>
                <a:cs typeface="Calibri" panose="020F0502020204030204" pitchFamily="34" charset="-120"/>
              </a:rPr>
              <a:t> </a:t>
            </a:r>
            <a:r>
              <a:rPr lang="en-US" sz="1400" dirty="0">
                <a:solidFill>
                  <a:srgbClr val="262626"/>
                </a:solidFill>
                <a:latin typeface="Calibri" panose="020F0502020204030204" pitchFamily="34" charset="0"/>
                <a:ea typeface="Calibri" panose="020F0502020204030204" pitchFamily="34" charset="-122"/>
                <a:cs typeface="Calibri" panose="020F0502020204030204" pitchFamily="34" charset="-120"/>
              </a:rPr>
              <a:t>2 is Negative =</a:t>
            </a:r>
            <a:r>
              <a:rPr lang="ar-EG" altLang="en-US" sz="1400" dirty="0">
                <a:solidFill>
                  <a:srgbClr val="262626"/>
                </a:solidFill>
                <a:latin typeface="Calibri" panose="020F0502020204030204" pitchFamily="34" charset="0"/>
                <a:ea typeface="Calibri" panose="020F0502020204030204" pitchFamily="34" charset="-122"/>
                <a:cs typeface="Calibri" panose="020F0502020204030204" pitchFamily="34" charset="-120"/>
              </a:rPr>
              <a:t> </a:t>
            </a:r>
            <a:r>
              <a:rPr lang="en-US" sz="1400" dirty="0">
                <a:solidFill>
                  <a:srgbClr val="262626"/>
                </a:solidFill>
                <a:latin typeface="Calibri" panose="020F0502020204030204" pitchFamily="34" charset="0"/>
                <a:ea typeface="Calibri" panose="020F0502020204030204" pitchFamily="34" charset="-122"/>
                <a:cs typeface="Calibri" panose="020F0502020204030204" pitchFamily="34" charset="-120"/>
              </a:rPr>
              <a:t>3 is Neutral ≥</a:t>
            </a:r>
            <a:r>
              <a:rPr lang="ar-EG" altLang="en-US" sz="1400" dirty="0">
                <a:solidFill>
                  <a:srgbClr val="262626"/>
                </a:solidFill>
                <a:latin typeface="Calibri" panose="020F0502020204030204" pitchFamily="34" charset="0"/>
                <a:ea typeface="Calibri" panose="020F0502020204030204" pitchFamily="34" charset="-122"/>
                <a:cs typeface="Calibri" panose="020F0502020204030204" pitchFamily="34" charset="-120"/>
              </a:rPr>
              <a:t> </a:t>
            </a:r>
            <a:r>
              <a:rPr lang="en-US" sz="1400" dirty="0">
                <a:solidFill>
                  <a:srgbClr val="262626"/>
                </a:solidFill>
                <a:latin typeface="Calibri" panose="020F0502020204030204" pitchFamily="34" charset="0"/>
                <a:ea typeface="Calibri" panose="020F0502020204030204" pitchFamily="34" charset="-122"/>
                <a:cs typeface="Calibri" panose="020F0502020204030204" pitchFamily="34" charset="-120"/>
              </a:rPr>
              <a:t>4 is Positive</a:t>
            </a:r>
            <a:endParaRPr lang="en-US" sz="1400" dirty="0"/>
          </a:p>
          <a:p>
            <a:pPr marL="177800" indent="-177800">
              <a:spcAft>
                <a:spcPts val="800"/>
              </a:spcAft>
              <a:buSzPct val="100000"/>
              <a:buChar char="•"/>
            </a:pPr>
            <a:r>
              <a:rPr lang="en-US" sz="1400" dirty="0">
                <a:solidFill>
                  <a:srgbClr val="262626"/>
                </a:solidFill>
                <a:latin typeface="Calibri" panose="020F0502020204030204" pitchFamily="34" charset="0"/>
                <a:ea typeface="Calibri" panose="020F0502020204030204" pitchFamily="34" charset="-122"/>
                <a:cs typeface="Calibri" panose="020F0502020204030204" pitchFamily="34" charset="-120"/>
              </a:rPr>
              <a:t>Split 80/20 before vectorizing: train_test_split(stratify = y, random_state = 42) → 18,097 train / 4,525 test</a:t>
            </a:r>
            <a:endParaRPr lang="en-US" sz="1400" dirty="0"/>
          </a:p>
        </p:txBody>
      </p:sp>
      <p:graphicFrame>
        <p:nvGraphicFramePr>
          <p:cNvPr id="7" name="Table 0"/>
          <p:cNvGraphicFramePr>
            <a:graphicFrameLocks noGrp="1"/>
          </p:cNvGraphicFramePr>
          <p:nvPr/>
        </p:nvGraphicFramePr>
        <p:xfrm>
          <a:off x="548640" y="4160520"/>
          <a:ext cx="6675120" cy="1645920"/>
        </p:xfrm>
        <a:graphic>
          <a:graphicData uri="http://schemas.openxmlformats.org/drawingml/2006/table">
            <a:tbl>
              <a:tblPr/>
              <a:tblGrid>
                <a:gridCol w="3931920"/>
                <a:gridCol w="2743200"/>
              </a:tblGrid>
              <a:tr h="411480">
                <a:tc>
                  <a:txBody>
                    <a:bodyP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Stage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c>
                  <a:txBody>
                    <a:bodyP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Shape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r>
              <a:tr h="411480">
                <a:tc>
                  <a:txBody>
                    <a:bodyPr/>
                    <a:lstStyle/>
                    <a:p>
                      <a:pPr marL="0" indent="0">
                        <a:buNone/>
                      </a:pPr>
                      <a:r>
                        <a:rPr lang="en-US" sz="1250" dirty="0">
                          <a:solidFill>
                            <a:srgbClr val="262626"/>
                          </a:solidFill>
                          <a:latin typeface="Calibri" panose="020F0502020204030204" pitchFamily="34" charset="0"/>
                          <a:ea typeface="Calibri" panose="020F0502020204030204" pitchFamily="34" charset="-122"/>
                          <a:cs typeface="Calibri" panose="020F0502020204030204" pitchFamily="34" charset="-120"/>
                        </a:rPr>
                        <a:t>Cleaned reviews (all)</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250" dirty="0">
                          <a:solidFill>
                            <a:srgbClr val="262626"/>
                          </a:solidFill>
                          <a:latin typeface="Calibri" panose="020F0502020204030204" pitchFamily="34" charset="0"/>
                          <a:ea typeface="Calibri" panose="020F0502020204030204" pitchFamily="34" charset="-122"/>
                          <a:cs typeface="Calibri" panose="020F0502020204030204" pitchFamily="34" charset="-120"/>
                        </a:rPr>
                        <a:t>22,622 texts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r h="411480">
                <a:tc>
                  <a:txBody>
                    <a:bodyPr/>
                    <a:lstStyle/>
                    <a:p>
                      <a:pPr marL="0" indent="0">
                        <a:buNone/>
                      </a:pPr>
                      <a:r>
                        <a:rPr lang="en-US" sz="1250" dirty="0">
                          <a:solidFill>
                            <a:srgbClr val="262626"/>
                          </a:solidFill>
                          <a:latin typeface="Calibri" panose="020F0502020204030204" pitchFamily="34" charset="0"/>
                          <a:ea typeface="Calibri" panose="020F0502020204030204" pitchFamily="34" charset="-122"/>
                          <a:cs typeface="Calibri" panose="020F0502020204030204" pitchFamily="34" charset="-120"/>
                        </a:rPr>
                        <a:t>Training set (X_train)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250" dirty="0">
                          <a:solidFill>
                            <a:srgbClr val="262626"/>
                          </a:solidFill>
                          <a:latin typeface="Calibri" panose="020F0502020204030204" pitchFamily="34" charset="0"/>
                          <a:ea typeface="Calibri" panose="020F0502020204030204" pitchFamily="34" charset="-122"/>
                          <a:cs typeface="Calibri" panose="020F0502020204030204" pitchFamily="34" charset="-120"/>
                        </a:rPr>
                        <a:t>18,097 × 5,000</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r h="411480">
                <a:tc>
                  <a:txBody>
                    <a:bodyPr/>
                    <a:lstStyle/>
                    <a:p>
                      <a:pPr marL="0" indent="0">
                        <a:buNone/>
                      </a:pPr>
                      <a:r>
                        <a:rPr lang="en-US" sz="1250" dirty="0">
                          <a:solidFill>
                            <a:srgbClr val="262626"/>
                          </a:solidFill>
                          <a:latin typeface="Calibri" panose="020F0502020204030204" pitchFamily="34" charset="0"/>
                          <a:ea typeface="Calibri" panose="020F0502020204030204" pitchFamily="34" charset="-122"/>
                          <a:cs typeface="Calibri" panose="020F0502020204030204" pitchFamily="34" charset="-120"/>
                        </a:rPr>
                        <a:t>Test set (X_test)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250" dirty="0">
                          <a:solidFill>
                            <a:srgbClr val="262626"/>
                          </a:solidFill>
                          <a:latin typeface="Calibri" panose="020F0502020204030204" pitchFamily="34" charset="0"/>
                          <a:ea typeface="Calibri" panose="020F0502020204030204" pitchFamily="34" charset="-122"/>
                          <a:cs typeface="Calibri" panose="020F0502020204030204" pitchFamily="34" charset="-120"/>
                        </a:rPr>
                        <a:t>4,525 × 5,000</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bl>
          </a:graphicData>
        </a:graphic>
      </p:graphicFrame>
      <p:sp>
        <p:nvSpPr>
          <p:cNvPr id="6" name="Shape 3"/>
          <p:cNvSpPr/>
          <p:nvPr/>
        </p:nvSpPr>
        <p:spPr>
          <a:xfrm>
            <a:off x="7498080" y="1234440"/>
            <a:ext cx="4114800" cy="4572000"/>
          </a:xfrm>
          <a:prstGeom prst="rect">
            <a:avLst/>
          </a:prstGeom>
          <a:solidFill>
            <a:srgbClr val="F4F6FA"/>
          </a:solidFill>
        </p:spPr>
        <p:txBody>
          <a:bodyPr/>
          <a:p/>
        </p:txBody>
      </p:sp>
      <p:sp>
        <p:nvSpPr>
          <p:cNvPr id="5" name="Text 4"/>
          <p:cNvSpPr/>
          <p:nvPr/>
        </p:nvSpPr>
        <p:spPr>
          <a:xfrm>
            <a:off x="7726680" y="1417320"/>
            <a:ext cx="365760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WHY TF-IDF &amp; WHY STRATIFY</a:t>
            </a:r>
            <a:endParaRPr lang="en-US" sz="1100" dirty="0"/>
          </a:p>
        </p:txBody>
      </p:sp>
      <p:sp>
        <p:nvSpPr>
          <p:cNvPr id="8" name="Text 5"/>
          <p:cNvSpPr/>
          <p:nvPr/>
        </p:nvSpPr>
        <p:spPr>
          <a:xfrm>
            <a:off x="7726680" y="1783080"/>
            <a:ext cx="3703320" cy="3840480"/>
          </a:xfrm>
          <a:prstGeom prst="rect">
            <a:avLst/>
          </a:prstGeom>
          <a:noFill/>
        </p:spPr>
        <p:txBody>
          <a:bodyPr wrap="square" rtlCol="0" anchor="t"/>
          <a:lstStyle/>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TF-IDF down-weights common words and up-weights distinctive ones — better signal than raw word counts (Bag-of-Words)</a:t>
            </a:r>
            <a:endParaRPr lang="en-US" sz="1200" dirty="0"/>
          </a:p>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max_features=5000 caps dimensionality, controlling overfitting and memory use</a:t>
            </a:r>
            <a:endParaRPr lang="en-US" sz="1200" dirty="0"/>
          </a:p>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stratify=y keeps the 77/12/11 class ratio identical in train and test — critical given the imbalance</a:t>
            </a:r>
            <a:endParaRPr lang="en-US" sz="1200" dirty="0"/>
          </a:p>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random_state=42 makes the split reproducible for grading</a:t>
            </a:r>
            <a:endParaRPr lang="en-US" sz="1200" dirty="0"/>
          </a:p>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Split first, then fit TF-IDF on the training set only: test-set vocabulary and IDF weights must not leak into training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F3864"/>
          </a:solidFill>
        </p:spPr>
        <p:txBody>
          <a:bodyPr/>
          <a:p/>
        </p:txBody>
      </p:sp>
      <p:sp>
        <p:nvSpPr>
          <p:cNvPr id="3" name="Text 1"/>
          <p:cNvSpPr/>
          <p:nvPr/>
        </p:nvSpPr>
        <p:spPr>
          <a:xfrm>
            <a:off x="457200" y="0"/>
            <a:ext cx="11274552" cy="86868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Classification Models &amp; Results</a:t>
            </a:r>
            <a:endParaRPr lang="en-US" sz="2400" dirty="0"/>
          </a:p>
        </p:txBody>
      </p:sp>
      <p:sp>
        <p:nvSpPr>
          <p:cNvPr id="4" name="Text 2"/>
          <p:cNvSpPr/>
          <p:nvPr/>
        </p:nvSpPr>
        <p:spPr>
          <a:xfrm>
            <a:off x="548640" y="1188720"/>
            <a:ext cx="530352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LOGISTIC REGRESSION — 82.1% ACCURACY</a:t>
            </a:r>
            <a:endParaRPr lang="en-US" sz="1100" dirty="0"/>
          </a:p>
        </p:txBody>
      </p:sp>
      <p:graphicFrame>
        <p:nvGraphicFramePr>
          <p:cNvPr id="8" name="Table 0"/>
          <p:cNvGraphicFramePr>
            <a:graphicFrameLocks noGrp="1"/>
          </p:cNvGraphicFramePr>
          <p:nvPr/>
        </p:nvGraphicFramePr>
        <p:xfrm>
          <a:off x="548640" y="1481328"/>
          <a:ext cx="5303520" cy="1417320"/>
        </p:xfrm>
        <a:graphic>
          <a:graphicData uri="http://schemas.openxmlformats.org/drawingml/2006/table">
            <a:tbl>
              <a:tblPr/>
              <a:tblGrid>
                <a:gridCol w="1828800"/>
                <a:gridCol w="1161288"/>
                <a:gridCol w="1161288"/>
                <a:gridCol w="1152144"/>
              </a:tblGrid>
              <a:tr h="354330">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Class</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Prec.</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Recall</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F1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r>
              <a:tr h="354330">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Negative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0.61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0.41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0.49</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r h="354330">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Neutral</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0.44</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0.23</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0.30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r h="354330">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Positive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0.87</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0.97</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0.92</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bl>
          </a:graphicData>
        </a:graphic>
      </p:graphicFrame>
      <p:sp>
        <p:nvSpPr>
          <p:cNvPr id="6" name="Text 3"/>
          <p:cNvSpPr/>
          <p:nvPr/>
        </p:nvSpPr>
        <p:spPr>
          <a:xfrm>
            <a:off x="6126480" y="1188720"/>
            <a:ext cx="530352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RANDOM FOREST — 78.3% ACCURACY</a:t>
            </a:r>
            <a:endParaRPr lang="en-US" sz="1100" dirty="0"/>
          </a:p>
        </p:txBody>
      </p:sp>
      <p:graphicFrame>
        <p:nvGraphicFramePr>
          <p:cNvPr id="15" name="Table 1"/>
          <p:cNvGraphicFramePr>
            <a:graphicFrameLocks noGrp="1"/>
          </p:cNvGraphicFramePr>
          <p:nvPr/>
        </p:nvGraphicFramePr>
        <p:xfrm>
          <a:off x="6126480" y="1481328"/>
          <a:ext cx="5303520" cy="1417320"/>
        </p:xfrm>
        <a:graphic>
          <a:graphicData uri="http://schemas.openxmlformats.org/drawingml/2006/table">
            <a:tbl>
              <a:tblPr/>
              <a:tblGrid>
                <a:gridCol w="2004060"/>
                <a:gridCol w="986028"/>
                <a:gridCol w="1161288"/>
                <a:gridCol w="1152144"/>
              </a:tblGrid>
              <a:tr h="354330">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Class</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Prec.</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Recall</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F1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r>
              <a:tr h="354330">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Negative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0.57</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0.13</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0.21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r h="354330">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Neutral</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0.47</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0.02</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0.05</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r h="354330">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Positive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0.79</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1.00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0.88</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bl>
          </a:graphicData>
        </a:graphic>
      </p:graphicFrame>
      <p:sp>
        <p:nvSpPr>
          <p:cNvPr id="5" name="Text 4"/>
          <p:cNvSpPr/>
          <p:nvPr/>
        </p:nvSpPr>
        <p:spPr>
          <a:xfrm>
            <a:off x="548640" y="3154680"/>
            <a:ext cx="457200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ACCURACY COMPARISON</a:t>
            </a:r>
            <a:endParaRPr lang="en-US" sz="1100" dirty="0"/>
          </a:p>
        </p:txBody>
      </p:sp>
      <p:graphicFrame>
        <p:nvGraphicFramePr>
          <p:cNvPr id="9" name="Chart 0"/>
          <p:cNvGraphicFramePr/>
          <p:nvPr/>
        </p:nvGraphicFramePr>
        <p:xfrm>
          <a:off x="548640" y="3429000"/>
          <a:ext cx="5303520" cy="2834640"/>
        </p:xfrm>
        <a:graphic>
          <a:graphicData uri="http://schemas.openxmlformats.org/drawingml/2006/chart">
            <c:chart xmlns:c="http://schemas.openxmlformats.org/drawingml/2006/chart" xmlns:r="http://schemas.openxmlformats.org/officeDocument/2006/relationships" r:id="rId1"/>
          </a:graphicData>
        </a:graphic>
      </p:graphicFrame>
      <p:sp>
        <p:nvSpPr>
          <p:cNvPr id="10" name="Shape 5"/>
          <p:cNvSpPr/>
          <p:nvPr/>
        </p:nvSpPr>
        <p:spPr>
          <a:xfrm>
            <a:off x="6126480" y="3154680"/>
            <a:ext cx="5303520" cy="3108960"/>
          </a:xfrm>
          <a:prstGeom prst="rect">
            <a:avLst/>
          </a:prstGeom>
          <a:solidFill>
            <a:srgbClr val="F4F6FA"/>
          </a:solidFill>
        </p:spPr>
        <p:txBody>
          <a:bodyPr/>
          <a:p/>
        </p:txBody>
      </p:sp>
      <p:sp>
        <p:nvSpPr>
          <p:cNvPr id="11" name="Text 6"/>
          <p:cNvSpPr/>
          <p:nvPr/>
        </p:nvSpPr>
        <p:spPr>
          <a:xfrm>
            <a:off x="6355080" y="3337560"/>
            <a:ext cx="4846320" cy="274320"/>
          </a:xfrm>
          <a:prstGeom prst="rect">
            <a:avLst/>
          </a:prstGeom>
          <a:noFill/>
        </p:spPr>
        <p:txBody>
          <a:bodyPr wrap="square" lIns="0" tIns="0" rIns="0" bIns="0" rtlCol="0" anchor="ctr"/>
          <a:lstStyle/>
          <a:p>
            <a:pPr marL="0" indent="0">
              <a:buNone/>
            </a:pPr>
            <a:r>
              <a:rPr lang="en-US" alt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Conclusions</a:t>
            </a:r>
            <a:endParaRPr lang="en-US" alt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Text 7"/>
          <p:cNvSpPr/>
          <p:nvPr/>
        </p:nvSpPr>
        <p:spPr>
          <a:xfrm>
            <a:off x="6355080" y="3657600"/>
            <a:ext cx="4846320" cy="2468880"/>
          </a:xfrm>
          <a:prstGeom prst="rect">
            <a:avLst/>
          </a:prstGeom>
          <a:noFill/>
        </p:spPr>
        <p:txBody>
          <a:bodyPr wrap="square" rtlCol="0" anchor="t"/>
          <a:lstStyle/>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Logistic Regression wins overall and, crucially, recovers far more Negative/Neutral reviews</a:t>
            </a:r>
            <a:endParaRPr lang="en-US" sz="1200" dirty="0"/>
          </a:p>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Random Forest collapses onto the majority Positive class — a sign of the 77/12/11 class imbalance in the data</a:t>
            </a:r>
            <a:endParaRPr lang="en-US" sz="1200" dirty="0"/>
          </a:p>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For this business use case, minority-class recall matters more than raw accuracy — missing a real complaint is costlier than a false alarm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F3864"/>
          </a:solidFill>
        </p:spPr>
        <p:txBody>
          <a:bodyPr/>
          <a:p/>
        </p:txBody>
      </p:sp>
      <p:sp>
        <p:nvSpPr>
          <p:cNvPr id="3" name="Text 1"/>
          <p:cNvSpPr/>
          <p:nvPr/>
        </p:nvSpPr>
        <p:spPr>
          <a:xfrm>
            <a:off x="457200" y="0"/>
            <a:ext cx="11274552" cy="86868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Handling Class Imbalance — Confusion Matrices</a:t>
            </a:r>
            <a:endParaRPr lang="en-US" sz="2400" dirty="0"/>
          </a:p>
        </p:txBody>
      </p:sp>
      <p:sp>
        <p:nvSpPr>
          <p:cNvPr id="4" name="Text 2"/>
          <p:cNvSpPr/>
          <p:nvPr/>
        </p:nvSpPr>
        <p:spPr>
          <a:xfrm>
            <a:off x="548640" y="1188720"/>
            <a:ext cx="530352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CONFUSION MATRICES — ROW-NORMALISED, TEST SET</a:t>
            </a:r>
            <a:endParaRPr lang="en-US" sz="1100" dirty="0"/>
          </a:p>
        </p:txBody>
      </p:sp>
      <p:sp>
        <p:nvSpPr>
          <p:cNvPr id="6" name="Text 3"/>
          <p:cNvSpPr/>
          <p:nvPr/>
        </p:nvSpPr>
        <p:spPr>
          <a:xfrm>
            <a:off x="6126480" y="1188720"/>
            <a:ext cx="530352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EFFECT OF class_weight = "balanced"</a:t>
            </a:r>
            <a:endParaRPr lang="en-US" sz="1100" dirty="0"/>
          </a:p>
        </p:txBody>
      </p:sp>
      <p:sp>
        <p:nvSpPr>
          <p:cNvPr id="10" name="Shape 5"/>
          <p:cNvSpPr/>
          <p:nvPr/>
        </p:nvSpPr>
        <p:spPr>
          <a:xfrm>
            <a:off x="6126480" y="3611880"/>
            <a:ext cx="5303520" cy="2651760"/>
          </a:xfrm>
          <a:prstGeom prst="rect">
            <a:avLst/>
          </a:prstGeom>
          <a:solidFill>
            <a:srgbClr val="F4F6FA"/>
          </a:solidFill>
        </p:spPr>
        <p:txBody>
          <a:bodyPr/>
          <a:p/>
        </p:txBody>
      </p:sp>
      <p:sp>
        <p:nvSpPr>
          <p:cNvPr id="11" name="Text 6"/>
          <p:cNvSpPr/>
          <p:nvPr/>
        </p:nvSpPr>
        <p:spPr>
          <a:xfrm>
            <a:off x="6355080" y="3767328"/>
            <a:ext cx="4846320" cy="274320"/>
          </a:xfrm>
          <a:prstGeom prst="rect">
            <a:avLst/>
          </a:prstGeom>
          <a:noFill/>
        </p:spPr>
        <p:txBody>
          <a:bodyPr wrap="square" lIns="0" tIns="0" rIns="0" bIns="0" rtlCol="0" anchor="ctr"/>
          <a:lstStyle/>
          <a:p>
            <a:pPr marL="0" indent="0">
              <a:buNone/>
            </a:pPr>
            <a:r>
              <a:rPr lang="en-US" alt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Key takeaways</a:t>
            </a:r>
            <a:endParaRPr lang="en-US" alt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Text 7"/>
          <p:cNvSpPr/>
          <p:nvPr/>
        </p:nvSpPr>
        <p:spPr>
          <a:xfrm>
            <a:off x="6355080" y="4069080"/>
            <a:ext cx="4846320" cy="2148840"/>
          </a:xfrm>
          <a:prstGeom prst="rect">
            <a:avLst/>
          </a:prstGeom>
          <a:noFill/>
        </p:spPr>
        <p:txBody>
          <a:bodyPr wrap="square" rtlCol="0" anchor="t"/>
          <a:lstStyle/>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Class weights help Logistic Regression most: Negative recall 0.41 → 0.57 and Neutral recall 0.23 → 0.49</a:t>
            </a:r>
            <a:endParaRPr lang="en-US" sz="1200" dirty="0"/>
          </a:p>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Macro F1 rises from 0.57 to 0.60 while accuracy drops from 82.1% to 77.0%</a:t>
            </a:r>
            <a:endParaRPr lang="en-US" sz="1200" dirty="0"/>
          </a:p>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Random Forest barely reacts to class weights (Negative recall 0.13 → 0.15): it still predicts almost everything as Positive</a:t>
            </a:r>
            <a:endParaRPr lang="en-US" sz="1200" dirty="0"/>
          </a:p>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Neutral (3-star) reviews are mostly predicted as Positive (60% with plain Logistic Regression)</a:t>
            </a:r>
            <a:endParaRPr lang="en-US" sz="1200" dirty="0"/>
          </a:p>
        </p:txBody>
      </p:sp>
      <p:sp>
        <p:nvSpPr>
          <p:cNvPr id="13" name="Picture frame"/>
          <p:cNvSpPr/>
          <p:nvPr/>
        </p:nvSpPr>
        <p:spPr>
          <a:xfrm>
            <a:off x="548640" y="1508760"/>
            <a:ext cx="5303520" cy="4754880"/>
          </a:xfrm>
          <a:prstGeom prst="rect">
            <a:avLst/>
          </a:prstGeom>
          <a:solidFill>
            <a:srgbClr val="FFFFFF"/>
          </a:solidFill>
          <a:ln>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Confusion matrices" descr="image.png"/>
          <p:cNvPicPr>
            <a:picLocks noChangeAspect="1"/>
          </p:cNvPicPr>
          <p:nvPr/>
        </p:nvPicPr>
        <p:blipFill>
          <a:blip r:embed="rId1"/>
          <a:stretch>
            <a:fillRect/>
          </a:stretch>
        </p:blipFill>
        <p:spPr>
          <a:xfrm>
            <a:off x="634429" y="1600200"/>
            <a:ext cx="5131941" cy="4572000"/>
          </a:xfrm>
          <a:prstGeom prst="rect">
            <a:avLst/>
          </a:prstGeom>
        </p:spPr>
      </p:pic>
      <p:graphicFrame>
        <p:nvGraphicFramePr>
          <p:cNvPr id="90" name="Comparison table"/>
          <p:cNvGraphicFramePr>
            <a:graphicFrameLocks noGrp="1"/>
          </p:cNvGraphicFramePr>
          <p:nvPr/>
        </p:nvGraphicFramePr>
        <p:xfrm>
          <a:off x="6126480" y="1508760"/>
          <a:ext cx="5303520" cy="1771650"/>
        </p:xfrm>
        <a:graphic>
          <a:graphicData uri="http://schemas.openxmlformats.org/drawingml/2006/table">
            <a:tbl>
              <a:tblPr/>
              <a:tblGrid>
                <a:gridCol w="1900000"/>
                <a:gridCol w="800000"/>
                <a:gridCol w="850000"/>
                <a:gridCol w="850000"/>
                <a:gridCol w="903520"/>
              </a:tblGrid>
              <a:tr h="354330">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Acc.</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Macro F1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Neg. rec.</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Neut. rec.</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r>
              <a:tr h="354330">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Logistic Reg.</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82.1%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0.57</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0.41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0.23</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r h="354330">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Logistic Reg. (balanced)</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77.0%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0.60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0.57</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0.49</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r h="354330">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Random Forest</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78.3%</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0.38</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0.13</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0.02</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r h="354330">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Random Forest (balanced)</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78.7%</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0.39</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0.15</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1150" dirty="0">
                          <a:solidFill>
                            <a:srgbClr val="262626"/>
                          </a:solidFill>
                          <a:latin typeface="Calibri" panose="020F0502020204030204" pitchFamily="34" charset="0"/>
                          <a:ea typeface="Calibri" panose="020F0502020204030204" pitchFamily="34" charset="-122"/>
                          <a:cs typeface="Calibri" panose="020F0502020204030204" pitchFamily="34" charset="-120"/>
                        </a:rPr>
                        <a:t>0.02</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F3864"/>
          </a:solidFill>
        </p:spPr>
        <p:txBody>
          <a:bodyPr/>
          <a:p/>
        </p:txBody>
      </p:sp>
      <p:sp>
        <p:nvSpPr>
          <p:cNvPr id="3" name="Text 1"/>
          <p:cNvSpPr/>
          <p:nvPr/>
        </p:nvSpPr>
        <p:spPr>
          <a:xfrm>
            <a:off x="457200" y="0"/>
            <a:ext cx="11274552" cy="86868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Customer Pain Points — K-Means Clustering</a:t>
            </a:r>
            <a:endParaRPr lang="en-US" sz="2400" dirty="0"/>
          </a:p>
        </p:txBody>
      </p:sp>
      <p:sp>
        <p:nvSpPr>
          <p:cNvPr id="4" name="Text 2"/>
          <p:cNvSpPr/>
          <p:nvPr/>
        </p:nvSpPr>
        <p:spPr>
          <a:xfrm>
            <a:off x="548640" y="1234440"/>
            <a:ext cx="11064240" cy="1554480"/>
          </a:xfrm>
          <a:prstGeom prst="rect">
            <a:avLst/>
          </a:prstGeom>
          <a:noFill/>
        </p:spPr>
        <p:txBody>
          <a:bodyPr wrap="square" rtlCol="0" anchor="t"/>
          <a:lstStyle/>
          <a:p>
            <a:pPr marL="177800" indent="-177800">
              <a:spcAft>
                <a:spcPts val="800"/>
              </a:spcAft>
              <a:buSzPct val="100000"/>
              <a:buChar char="•"/>
            </a:pPr>
            <a:r>
              <a:rPr lang="en-US" sz="1350" dirty="0">
                <a:solidFill>
                  <a:srgbClr val="262626"/>
                </a:solidFill>
                <a:latin typeface="Calibri" panose="020F0502020204030204" pitchFamily="34" charset="0"/>
                <a:ea typeface="Calibri" panose="020F0502020204030204" pitchFamily="34" charset="-122"/>
                <a:cs typeface="Calibri" panose="020F0502020204030204" pitchFamily="34" charset="-120"/>
              </a:rPr>
              <a:t>2,369 Negative reviews isolated and re-encoded with the fitted TF-IDF vectorizer</a:t>
            </a:r>
            <a:endParaRPr lang="en-US" sz="1350" dirty="0"/>
          </a:p>
          <a:p>
            <a:pPr marL="177800" indent="-177800">
              <a:spcAft>
                <a:spcPts val="800"/>
              </a:spcAft>
              <a:buSzPct val="100000"/>
              <a:buChar char="•"/>
            </a:pPr>
            <a:r>
              <a:rPr lang="en-US" sz="1350" dirty="0">
                <a:solidFill>
                  <a:srgbClr val="262626"/>
                </a:solidFill>
                <a:latin typeface="Calibri" panose="020F0502020204030204" pitchFamily="34" charset="0"/>
                <a:ea typeface="Calibri" panose="020F0502020204030204" pitchFamily="34" charset="-122"/>
                <a:cs typeface="Calibri" panose="020F0502020204030204" pitchFamily="34" charset="-120"/>
              </a:rPr>
              <a:t>KMeans(n_clusters=5, random_state=42, n_init=10) groups them into 5 themes</a:t>
            </a:r>
            <a:endParaRPr lang="en-US" sz="1350" dirty="0"/>
          </a:p>
          <a:p>
            <a:pPr marL="177800" indent="-177800">
              <a:spcAft>
                <a:spcPts val="800"/>
              </a:spcAft>
              <a:buSzPct val="100000"/>
              <a:buChar char="•"/>
            </a:pPr>
            <a:r>
              <a:rPr lang="en-US" sz="1350" dirty="0">
                <a:solidFill>
                  <a:srgbClr val="262626"/>
                </a:solidFill>
                <a:latin typeface="Calibri" panose="020F0502020204030204" pitchFamily="34" charset="0"/>
                <a:ea typeface="Calibri" panose="020F0502020204030204" pitchFamily="34" charset="-122"/>
                <a:cs typeface="Calibri" panose="020F0502020204030204" pitchFamily="34" charset="-120"/>
              </a:rPr>
              <a:t>Per cluster, the top 10 highest-weighted TF-IDF terms define its complaint theme — sizing (small/large), fabric/material quality, boxy or short fit, and appearance not matching expectations</a:t>
            </a:r>
            <a:endParaRPr lang="en-US" sz="1350" dirty="0"/>
          </a:p>
        </p:txBody>
      </p:sp>
      <p:sp>
        <p:nvSpPr>
          <p:cNvPr id="5" name="Text 3"/>
          <p:cNvSpPr/>
          <p:nvPr/>
        </p:nvSpPr>
        <p:spPr>
          <a:xfrm>
            <a:off x="548640" y="2788920"/>
            <a:ext cx="512064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COMPLAINT CLUSTER ANALYSIS</a:t>
            </a:r>
            <a:endParaRPr lang="en-US" sz="1100" dirty="0"/>
          </a:p>
        </p:txBody>
      </p:sp>
      <p:sp>
        <p:nvSpPr>
          <p:cNvPr id="6" name="Shape 4"/>
          <p:cNvSpPr/>
          <p:nvPr/>
        </p:nvSpPr>
        <p:spPr>
          <a:xfrm>
            <a:off x="548640" y="3063240"/>
            <a:ext cx="5212080" cy="3108960"/>
          </a:xfrm>
          <a:prstGeom prst="rect">
            <a:avLst/>
          </a:prstGeom>
          <a:solidFill>
            <a:srgbClr val="FBFCFE"/>
          </a:solidFill>
          <a:ln w="9525">
            <a:solidFill>
              <a:srgbClr val="E2E6EC"/>
            </a:solidFill>
            <a:prstDash val="solid"/>
          </a:ln>
        </p:spPr>
        <p:txBody>
          <a:bodyPr/>
          <a:p/>
        </p:txBody>
      </p:sp>
      <p:sp>
        <p:nvSpPr>
          <p:cNvPr id="8" name="Text 5"/>
          <p:cNvSpPr/>
          <p:nvPr/>
        </p:nvSpPr>
        <p:spPr>
          <a:xfrm>
            <a:off x="6080760" y="2788920"/>
            <a:ext cx="548640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TOP WORDS PER CLUSTER</a:t>
            </a:r>
            <a:endParaRPr lang="en-US" sz="1100" dirty="0"/>
          </a:p>
        </p:txBody>
      </p:sp>
      <p:graphicFrame>
        <p:nvGraphicFramePr>
          <p:cNvPr id="9" name="Table 0"/>
          <p:cNvGraphicFramePr>
            <a:graphicFrameLocks noGrp="1"/>
          </p:cNvGraphicFramePr>
          <p:nvPr/>
        </p:nvGraphicFramePr>
        <p:xfrm>
          <a:off x="6080760" y="3063240"/>
          <a:ext cx="5532120" cy="3108960"/>
        </p:xfrm>
        <a:graphic>
          <a:graphicData uri="http://schemas.openxmlformats.org/drawingml/2006/table">
            <a:tbl>
              <a:tblPr/>
              <a:tblGrid>
                <a:gridCol w="777240"/>
                <a:gridCol w="1691640"/>
                <a:gridCol w="3063240"/>
              </a:tblGrid>
              <a:tr h="518160">
                <a:tc>
                  <a:txBody>
                    <a:bodyPr/>
                    <a:lstStyle/>
                    <a:p>
                      <a:pPr marL="0" indent="0">
                        <a:buNone/>
                      </a:pPr>
                      <a:r>
                        <a:rPr lang="en-US" sz="970" b="1" dirty="0">
                          <a:solidFill>
                            <a:srgbClr val="FFFFFF"/>
                          </a:solidFill>
                          <a:latin typeface="Calibri" panose="020F0502020204030204" pitchFamily="34" charset="0"/>
                          <a:ea typeface="Calibri" panose="020F0502020204030204" pitchFamily="34" charset="-122"/>
                          <a:cs typeface="Calibri" panose="020F0502020204030204" pitchFamily="34" charset="-120"/>
                        </a:rPr>
                        <a:t>Cluster</a:t>
                      </a:r>
                      <a:endParaRPr lang="en-US" sz="97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c>
                  <a:txBody>
                    <a:bodyPr/>
                    <a:lstStyle/>
                    <a:p>
                      <a:pPr marL="0" indent="0">
                        <a:buNone/>
                      </a:pPr>
                      <a:r>
                        <a:rPr lang="en-US" sz="970" b="1" dirty="0">
                          <a:solidFill>
                            <a:srgbClr val="FFFFFF"/>
                          </a:solidFill>
                          <a:latin typeface="Calibri" panose="020F0502020204030204" pitchFamily="34" charset="0"/>
                          <a:ea typeface="Calibri" panose="020F0502020204030204" pitchFamily="34" charset="-122"/>
                          <a:cs typeface="Calibri" panose="020F0502020204030204" pitchFamily="34" charset="-120"/>
                        </a:rPr>
                        <a:t>Theme</a:t>
                      </a:r>
                      <a:endParaRPr lang="en-US" sz="97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c>
                  <a:txBody>
                    <a:bodyPr/>
                    <a:lstStyle/>
                    <a:p>
                      <a:pPr marL="0" indent="0">
                        <a:buNone/>
                      </a:pPr>
                      <a:r>
                        <a:rPr lang="en-US" sz="970" b="1" dirty="0">
                          <a:solidFill>
                            <a:srgbClr val="FFFFFF"/>
                          </a:solidFill>
                          <a:latin typeface="Calibri" panose="020F0502020204030204" pitchFamily="34" charset="0"/>
                          <a:ea typeface="Calibri" panose="020F0502020204030204" pitchFamily="34" charset="-122"/>
                          <a:cs typeface="Calibri" panose="020F0502020204030204" pitchFamily="34" charset="-120"/>
                        </a:rPr>
                        <a:t>Top TF-IDF terms</a:t>
                      </a:r>
                      <a:endParaRPr lang="en-US" sz="97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1F3864"/>
                    </a:solidFill>
                  </a:tcPr>
                </a:tc>
              </a:tr>
              <a:tr h="518160">
                <a:tc>
                  <a:txBody>
                    <a:bodyPr/>
                    <a:lstStyle/>
                    <a:p>
                      <a:pPr marL="0" indent="0">
                        <a:buNone/>
                      </a:pPr>
                      <a:r>
                        <a:rPr lang="en-US" sz="970" dirty="0">
                          <a:solidFill>
                            <a:srgbClr val="262626"/>
                          </a:solidFill>
                          <a:latin typeface="Calibri" panose="020F0502020204030204" pitchFamily="34" charset="0"/>
                          <a:ea typeface="Calibri" panose="020F0502020204030204" pitchFamily="34" charset="-122"/>
                          <a:cs typeface="Calibri" panose="020F0502020204030204" pitchFamily="34" charset="-120"/>
                        </a:rPr>
                        <a:t>0 (544)</a:t>
                      </a:r>
                      <a:endParaRPr lang="en-US" sz="97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970" dirty="0">
                          <a:solidFill>
                            <a:srgbClr val="262626"/>
                          </a:solidFill>
                          <a:latin typeface="Calibri" panose="020F0502020204030204" pitchFamily="34" charset="0"/>
                          <a:ea typeface="Calibri" panose="020F0502020204030204" pitchFamily="34" charset="-122"/>
                          <a:cs typeface="Calibri" panose="020F0502020204030204" pitchFamily="34" charset="-120"/>
                        </a:rPr>
                        <a:t>Look/appearance mismatch</a:t>
                      </a:r>
                      <a:endParaRPr lang="en-US" sz="97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970" dirty="0">
                          <a:solidFill>
                            <a:srgbClr val="262626"/>
                          </a:solidFill>
                          <a:latin typeface="Calibri" panose="020F0502020204030204" pitchFamily="34" charset="0"/>
                          <a:ea typeface="Calibri" panose="020F0502020204030204" pitchFamily="34" charset="-122"/>
                          <a:cs typeface="Calibri" panose="020F0502020204030204" pitchFamily="34" charset="-120"/>
                        </a:rPr>
                        <a:t>like, looked, looks, look, back, fabric, cheap, sweater, model, picture</a:t>
                      </a:r>
                      <a:endParaRPr lang="en-US" sz="97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r h="518160">
                <a:tc>
                  <a:txBody>
                    <a:bodyPr/>
                    <a:lstStyle/>
                    <a:p>
                      <a:pPr marL="0" indent="0">
                        <a:buNone/>
                      </a:pPr>
                      <a:r>
                        <a:rPr lang="en-US" sz="970" dirty="0">
                          <a:solidFill>
                            <a:srgbClr val="262626"/>
                          </a:solidFill>
                          <a:latin typeface="Calibri" panose="020F0502020204030204" pitchFamily="34" charset="0"/>
                          <a:ea typeface="Calibri" panose="020F0502020204030204" pitchFamily="34" charset="-122"/>
                          <a:cs typeface="Calibri" panose="020F0502020204030204" pitchFamily="34" charset="-120"/>
                        </a:rPr>
                        <a:t>1 (191)</a:t>
                      </a:r>
                      <a:endParaRPr lang="en-US" sz="97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970" dirty="0">
                          <a:solidFill>
                            <a:srgbClr val="262626"/>
                          </a:solidFill>
                          <a:latin typeface="Calibri" panose="020F0502020204030204" pitchFamily="34" charset="0"/>
                          <a:ea typeface="Calibri" panose="020F0502020204030204" pitchFamily="34" charset="-122"/>
                          <a:cs typeface="Calibri" panose="020F0502020204030204" pitchFamily="34" charset="-120"/>
                        </a:rPr>
                        <a:t>Boxy / short fit (tops)</a:t>
                      </a:r>
                      <a:endParaRPr lang="en-US" sz="97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970" dirty="0">
                          <a:solidFill>
                            <a:srgbClr val="262626"/>
                          </a:solidFill>
                          <a:latin typeface="Calibri" panose="020F0502020204030204" pitchFamily="34" charset="0"/>
                          <a:ea typeface="Calibri" panose="020F0502020204030204" pitchFamily="34" charset="-122"/>
                          <a:cs typeface="Calibri" panose="020F0502020204030204" pitchFamily="34" charset="-120"/>
                        </a:rPr>
                        <a:t>shirt, back, would, fabric, boxy, like, loved, thin, short, returning</a:t>
                      </a:r>
                      <a:endParaRPr lang="en-US" sz="97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r h="518160">
                <a:tc>
                  <a:txBody>
                    <a:bodyPr/>
                    <a:lstStyle/>
                    <a:p>
                      <a:pPr marL="0" indent="0">
                        <a:buNone/>
                      </a:pPr>
                      <a:r>
                        <a:rPr lang="en-US" sz="970" dirty="0">
                          <a:solidFill>
                            <a:srgbClr val="262626"/>
                          </a:solidFill>
                          <a:latin typeface="Calibri" panose="020F0502020204030204" pitchFamily="34" charset="0"/>
                          <a:ea typeface="Calibri" panose="020F0502020204030204" pitchFamily="34" charset="-122"/>
                          <a:cs typeface="Calibri" panose="020F0502020204030204" pitchFamily="34" charset="-120"/>
                        </a:rPr>
                        <a:t>2 (428)</a:t>
                      </a:r>
                      <a:endParaRPr lang="en-US" sz="97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970" dirty="0">
                          <a:solidFill>
                            <a:srgbClr val="262626"/>
                          </a:solidFill>
                          <a:latin typeface="Calibri" panose="020F0502020204030204" pitchFamily="34" charset="0"/>
                          <a:ea typeface="Calibri" panose="020F0502020204030204" pitchFamily="34" charset="-122"/>
                          <a:cs typeface="Calibri" panose="020F0502020204030204" pitchFamily="34" charset="-120"/>
                        </a:rPr>
                        <a:t>Dress disappointment</a:t>
                      </a:r>
                      <a:endParaRPr lang="en-US" sz="97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970" dirty="0">
                          <a:solidFill>
                            <a:srgbClr val="262626"/>
                          </a:solidFill>
                          <a:latin typeface="Calibri" panose="020F0502020204030204" pitchFamily="34" charset="0"/>
                          <a:ea typeface="Calibri" panose="020F0502020204030204" pitchFamily="34" charset="-122"/>
                          <a:cs typeface="Calibri" panose="020F0502020204030204" pitchFamily="34" charset="-120"/>
                        </a:rPr>
                        <a:t>dress, like, would, fabric, back, disappointed, material, really, size, fit</a:t>
                      </a:r>
                      <a:endParaRPr lang="en-US" sz="97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r h="518160">
                <a:tc>
                  <a:txBody>
                    <a:bodyPr/>
                    <a:lstStyle/>
                    <a:p>
                      <a:pPr marL="0" indent="0">
                        <a:buNone/>
                      </a:pPr>
                      <a:r>
                        <a:rPr lang="en-US" sz="970" dirty="0">
                          <a:solidFill>
                            <a:srgbClr val="262626"/>
                          </a:solidFill>
                          <a:latin typeface="Calibri" panose="020F0502020204030204" pitchFamily="34" charset="0"/>
                          <a:ea typeface="Calibri" panose="020F0502020204030204" pitchFamily="34" charset="-122"/>
                          <a:cs typeface="Calibri" panose="020F0502020204030204" pitchFamily="34" charset="-120"/>
                        </a:rPr>
                        <a:t>3 (735)</a:t>
                      </a:r>
                      <a:endParaRPr lang="en-US" sz="97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970" dirty="0">
                          <a:solidFill>
                            <a:srgbClr val="262626"/>
                          </a:solidFill>
                          <a:latin typeface="Calibri" panose="020F0502020204030204" pitchFamily="34" charset="0"/>
                          <a:ea typeface="Calibri" panose="020F0502020204030204" pitchFamily="34" charset="-122"/>
                          <a:cs typeface="Calibri" panose="020F0502020204030204" pitchFamily="34" charset="-120"/>
                        </a:rPr>
                        <a:t>Fabric / material quality</a:t>
                      </a:r>
                      <a:endParaRPr lang="en-US" sz="97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970" dirty="0">
                          <a:solidFill>
                            <a:srgbClr val="262626"/>
                          </a:solidFill>
                          <a:latin typeface="Calibri" panose="020F0502020204030204" pitchFamily="34" charset="0"/>
                          <a:ea typeface="Calibri" panose="020F0502020204030204" pitchFamily="34" charset="-122"/>
                          <a:cs typeface="Calibri" panose="020F0502020204030204" pitchFamily="34" charset="-120"/>
                        </a:rPr>
                        <a:t>quality, fabric, return, would, even, pants, one, could, thin, back</a:t>
                      </a:r>
                      <a:endParaRPr lang="en-US" sz="97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r h="518160">
                <a:tc>
                  <a:txBody>
                    <a:bodyPr/>
                    <a:lstStyle/>
                    <a:p>
                      <a:pPr marL="0" indent="0">
                        <a:buNone/>
                      </a:pPr>
                      <a:r>
                        <a:rPr lang="en-US" sz="970" dirty="0">
                          <a:solidFill>
                            <a:srgbClr val="262626"/>
                          </a:solidFill>
                          <a:latin typeface="Calibri" panose="020F0502020204030204" pitchFamily="34" charset="0"/>
                          <a:ea typeface="Calibri" panose="020F0502020204030204" pitchFamily="34" charset="-122"/>
                          <a:cs typeface="Calibri" panose="020F0502020204030204" pitchFamily="34" charset="-120"/>
                        </a:rPr>
                        <a:t>4 (471)</a:t>
                      </a:r>
                      <a:endParaRPr lang="en-US" sz="97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970" dirty="0">
                          <a:solidFill>
                            <a:srgbClr val="262626"/>
                          </a:solidFill>
                          <a:latin typeface="Calibri" panose="020F0502020204030204" pitchFamily="34" charset="0"/>
                          <a:ea typeface="Calibri" panose="020F0502020204030204" pitchFamily="34" charset="-122"/>
                          <a:cs typeface="Calibri" panose="020F0502020204030204" pitchFamily="34" charset="-120"/>
                        </a:rPr>
                        <a:t>Sizing — runs small/large</a:t>
                      </a:r>
                      <a:endParaRPr lang="en-US" sz="97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c>
                  <a:txBody>
                    <a:bodyPr/>
                    <a:lstStyle/>
                    <a:p>
                      <a:pPr marL="0" indent="0">
                        <a:buNone/>
                      </a:pPr>
                      <a:r>
                        <a:rPr lang="en-US" sz="970" dirty="0">
                          <a:solidFill>
                            <a:srgbClr val="262626"/>
                          </a:solidFill>
                          <a:latin typeface="Calibri" panose="020F0502020204030204" pitchFamily="34" charset="0"/>
                          <a:ea typeface="Calibri" panose="020F0502020204030204" pitchFamily="34" charset="-122"/>
                          <a:cs typeface="Calibri" panose="020F0502020204030204" pitchFamily="34" charset="-120"/>
                        </a:rPr>
                        <a:t>top, small, size, ordered, would, fit, large, like, way, really</a:t>
                      </a:r>
                      <a:endParaRPr lang="en-US" sz="97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tcPr>
                </a:tc>
              </a:tr>
            </a:tbl>
          </a:graphicData>
        </a:graphic>
      </p:graphicFrame>
      <p:pic>
        <p:nvPicPr>
          <p:cNvPr id="10" name="Cluster plot" descr="nbcell55.png"/>
          <p:cNvPicPr>
            <a:picLocks noChangeAspect="1"/>
          </p:cNvPicPr>
          <p:nvPr/>
        </p:nvPicPr>
        <p:blipFill>
          <a:blip r:embed="rId4"/>
          <a:stretch>
            <a:fillRect/>
          </a:stretch>
        </p:blipFill>
        <p:spPr>
          <a:xfrm>
            <a:off x="983516" y="3154680"/>
            <a:ext cx="4342327" cy="29260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F3864"/>
          </a:solidFill>
        </p:spPr>
        <p:txBody>
          <a:bodyPr/>
          <a:p/>
        </p:txBody>
      </p:sp>
      <p:sp>
        <p:nvSpPr>
          <p:cNvPr id="3" name="Text 1"/>
          <p:cNvSpPr/>
          <p:nvPr/>
        </p:nvSpPr>
        <p:spPr>
          <a:xfrm>
            <a:off x="457200" y="0"/>
            <a:ext cx="11274552" cy="86868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Business Insights Dashboard</a:t>
            </a:r>
            <a:endParaRPr lang="en-US" sz="2400" dirty="0"/>
          </a:p>
        </p:txBody>
      </p:sp>
      <p:sp>
        <p:nvSpPr>
          <p:cNvPr id="4" name="Text 2"/>
          <p:cNvSpPr/>
          <p:nvPr/>
        </p:nvSpPr>
        <p:spPr>
          <a:xfrm>
            <a:off x="548640" y="1234440"/>
            <a:ext cx="548640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WHAT WE KNOW</a:t>
            </a:r>
            <a:endParaRPr lang="en-US" sz="1100" dirty="0"/>
          </a:p>
        </p:txBody>
      </p:sp>
      <p:sp>
        <p:nvSpPr>
          <p:cNvPr id="5" name="Text 3"/>
          <p:cNvSpPr/>
          <p:nvPr/>
        </p:nvSpPr>
        <p:spPr>
          <a:xfrm>
            <a:off x="548640" y="1554480"/>
            <a:ext cx="5486400" cy="2743200"/>
          </a:xfrm>
          <a:prstGeom prst="rect">
            <a:avLst/>
          </a:prstGeom>
          <a:noFill/>
        </p:spPr>
        <p:txBody>
          <a:bodyPr wrap="square" rtlCol="0" anchor="t"/>
          <a:lstStyle/>
          <a:p>
            <a:pPr marL="177800" indent="-177800">
              <a:spcAft>
                <a:spcPts val="800"/>
              </a:spcAft>
              <a:buSzPct val="100000"/>
              <a:buChar char="•"/>
            </a:pPr>
            <a:r>
              <a:rPr lang="en-US" sz="1300" dirty="0">
                <a:solidFill>
                  <a:srgbClr val="262626"/>
                </a:solidFill>
                <a:latin typeface="Calibri" panose="020F0502020204030204" pitchFamily="34" charset="0"/>
                <a:ea typeface="Calibri" panose="020F0502020204030204" pitchFamily="34" charset="-122"/>
                <a:cs typeface="Calibri" panose="020F0502020204030204" pitchFamily="34" charset="-120"/>
              </a:rPr>
              <a:t>Class imbalance: 77% Positive vs. 23% combined Neutral+Negative — most customers are satisfied, but the minority signal is where risk hides</a:t>
            </a:r>
            <a:endParaRPr lang="en-US" sz="1300" dirty="0"/>
          </a:p>
          <a:p>
            <a:pPr marL="177800" indent="-177800">
              <a:spcAft>
                <a:spcPts val="800"/>
              </a:spcAft>
              <a:buSzPct val="100000"/>
              <a:buChar char="•"/>
            </a:pPr>
            <a:r>
              <a:rPr lang="en-US" sz="1300" dirty="0">
                <a:solidFill>
                  <a:srgbClr val="262626"/>
                </a:solidFill>
                <a:latin typeface="Calibri" panose="020F0502020204030204" pitchFamily="34" charset="0"/>
                <a:ea typeface="Calibri" panose="020F0502020204030204" pitchFamily="34" charset="-122"/>
                <a:cs typeface="Calibri" panose="020F0502020204030204" pitchFamily="34" charset="-120"/>
              </a:rPr>
              <a:t>2,369 negative reviews (10–12% of all reviews) group into 5 distinct complaint themes via clustering</a:t>
            </a:r>
            <a:endParaRPr lang="en-US" sz="1300" dirty="0"/>
          </a:p>
          <a:p>
            <a:pPr marL="177800" indent="-177800">
              <a:spcAft>
                <a:spcPts val="800"/>
              </a:spcAft>
              <a:buSzPct val="100000"/>
              <a:buChar char="•"/>
            </a:pPr>
            <a:r>
              <a:rPr lang="en-US" sz="1300" dirty="0">
                <a:solidFill>
                  <a:srgbClr val="262626"/>
                </a:solidFill>
                <a:latin typeface="Calibri" panose="020F0502020204030204" pitchFamily="34" charset="0"/>
                <a:ea typeface="Calibri" panose="020F0502020204030204" pitchFamily="34" charset="-122"/>
                <a:cs typeface="Calibri" panose="020F0502020204030204" pitchFamily="34" charset="-120"/>
              </a:rPr>
              <a:t>5 interpreted themes: fabric/material quality (735 reviews, the largest), look/appearance mismatch (544), sizing small/large (471), dress disappointment (428), and boxy/short fit (191)</a:t>
            </a:r>
            <a:endParaRPr lang="en-US" sz="1300" dirty="0"/>
          </a:p>
          <a:p>
            <a:pPr marL="177800" indent="-177800">
              <a:spcAft>
                <a:spcPts val="800"/>
              </a:spcAft>
              <a:buSzPct val="100000"/>
              <a:buChar char="•"/>
            </a:pPr>
            <a:r>
              <a:rPr lang="en-US" sz="1300" dirty="0">
                <a:solidFill>
                  <a:srgbClr val="262626"/>
                </a:solidFill>
                <a:latin typeface="Calibri" panose="020F0502020204030204" pitchFamily="34" charset="0"/>
                <a:ea typeface="Calibri" panose="020F0502020204030204" pitchFamily="34" charset="-122"/>
                <a:cs typeface="Calibri" panose="020F0502020204030204" pitchFamily="34" charset="-120"/>
              </a:rPr>
              <a:t>Dresses (680) and Knits (498) alone account for ~50% of all negative reviews </a:t>
            </a:r>
            <a:endParaRPr lang="en-US" sz="1300" dirty="0"/>
          </a:p>
        </p:txBody>
      </p:sp>
      <p:sp>
        <p:nvSpPr>
          <p:cNvPr id="6" name="Text 4"/>
          <p:cNvSpPr/>
          <p:nvPr/>
        </p:nvSpPr>
        <p:spPr>
          <a:xfrm>
            <a:off x="6309360" y="1234440"/>
            <a:ext cx="548640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NEGATIVE REVIEWS BY PRODUCT CATEGORY</a:t>
            </a:r>
            <a:endParaRPr lang="en-US" sz="1100" dirty="0"/>
          </a:p>
        </p:txBody>
      </p:sp>
      <p:graphicFrame>
        <p:nvGraphicFramePr>
          <p:cNvPr id="7" name="Chart 0"/>
          <p:cNvGraphicFramePr/>
          <p:nvPr/>
        </p:nvGraphicFramePr>
        <p:xfrm>
          <a:off x="6309360" y="1508760"/>
          <a:ext cx="5303520" cy="2743200"/>
        </p:xfrm>
        <a:graphic>
          <a:graphicData uri="http://schemas.openxmlformats.org/drawingml/2006/chart">
            <c:chart xmlns:c="http://schemas.openxmlformats.org/drawingml/2006/chart" xmlns:r="http://schemas.openxmlformats.org/officeDocument/2006/relationships" r:id="rId1"/>
          </a:graphicData>
        </a:graphic>
      </p:graphicFrame>
      <p:sp>
        <p:nvSpPr>
          <p:cNvPr id="8" name="Shape 5"/>
          <p:cNvSpPr/>
          <p:nvPr/>
        </p:nvSpPr>
        <p:spPr>
          <a:xfrm>
            <a:off x="548640" y="4434840"/>
            <a:ext cx="11064240" cy="1645920"/>
          </a:xfrm>
          <a:prstGeom prst="rect">
            <a:avLst/>
          </a:prstGeom>
          <a:solidFill>
            <a:srgbClr val="F4F6FA"/>
          </a:solidFill>
        </p:spPr>
        <p:txBody>
          <a:bodyPr/>
          <a:p/>
        </p:txBody>
      </p:sp>
      <p:sp>
        <p:nvSpPr>
          <p:cNvPr id="9" name="Text 6"/>
          <p:cNvSpPr/>
          <p:nvPr/>
        </p:nvSpPr>
        <p:spPr>
          <a:xfrm>
            <a:off x="822960" y="4572000"/>
            <a:ext cx="7315200" cy="274320"/>
          </a:xfrm>
          <a:prstGeom prst="rect">
            <a:avLst/>
          </a:prstGeom>
          <a:noFill/>
        </p:spPr>
        <p:txBody>
          <a:bodyPr wrap="square" lIns="0" tIns="0" rIns="0" bIns="0" rtlCol="0" anchor="ctr"/>
          <a:lstStyle/>
          <a:p>
            <a:pPr marL="0" indent="0">
              <a:buNone/>
            </a:pPr>
            <a:r>
              <a:rPr lang="en-US" sz="1100" b="1" kern="0" spc="100" dirty="0">
                <a:solidFill>
                  <a:srgbClr val="1F3864"/>
                </a:solidFill>
                <a:latin typeface="Calibri" panose="020F0502020204030204" pitchFamily="34" charset="0"/>
                <a:ea typeface="Calibri" panose="020F0502020204030204" pitchFamily="34" charset="-122"/>
                <a:cs typeface="Calibri" panose="020F0502020204030204" pitchFamily="34" charset="-120"/>
              </a:rPr>
              <a:t>RECOMMENDED ACTIONS FOR THE BUSINESS</a:t>
            </a:r>
            <a:endParaRPr lang="en-US" sz="1100" dirty="0"/>
          </a:p>
        </p:txBody>
      </p:sp>
      <p:sp>
        <p:nvSpPr>
          <p:cNvPr id="10" name="Text 7"/>
          <p:cNvSpPr/>
          <p:nvPr/>
        </p:nvSpPr>
        <p:spPr>
          <a:xfrm>
            <a:off x="822960" y="4846320"/>
            <a:ext cx="10515600" cy="1188720"/>
          </a:xfrm>
          <a:prstGeom prst="rect">
            <a:avLst/>
          </a:prstGeom>
          <a:noFill/>
        </p:spPr>
        <p:txBody>
          <a:bodyPr wrap="square" rtlCol="0" anchor="t"/>
          <a:lstStyle/>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Route reviews auto-tagged Negative + their cluster theme directly to the relevant team, starting with Dresses and Knits</a:t>
            </a:r>
            <a:endParaRPr lang="en-US" sz="1200" dirty="0"/>
          </a:p>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Track weekly Negative-review volume per cluster and per category</a:t>
            </a:r>
            <a:endParaRPr lang="en-US" sz="1200" dirty="0"/>
          </a:p>
          <a:p>
            <a:pPr marL="177800" indent="-177800">
              <a:spcAft>
                <a:spcPts val="800"/>
              </a:spcAft>
              <a:buSzPct val="100000"/>
              <a:buChar char="•"/>
            </a:pPr>
            <a:r>
              <a:rPr lang="en-US" sz="1200" dirty="0">
                <a:solidFill>
                  <a:srgbClr val="262626"/>
                </a:solidFill>
                <a:latin typeface="Calibri" panose="020F0502020204030204" pitchFamily="34" charset="0"/>
                <a:ea typeface="Calibri" panose="020F0502020204030204" pitchFamily="34" charset="-122"/>
                <a:cs typeface="Calibri" panose="020F0502020204030204" pitchFamily="34" charset="-120"/>
              </a:rPr>
              <a:t>Re-run clustering monthly as new reviews arrive to catch emerging complaint themes early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640080"/>
          </a:xfrm>
          <a:prstGeom prst="rect">
            <a:avLst/>
          </a:prstGeom>
          <a:noFill/>
        </p:spPr>
        <p:txBody>
          <a:bodyPr wrap="square" lIns="0" tIns="0" rIns="0" bIns="0"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Key Insights &amp; Conclusion</a:t>
            </a:r>
            <a:endParaRPr lang="en-US" sz="2800" dirty="0"/>
          </a:p>
        </p:txBody>
      </p:sp>
      <p:sp>
        <p:nvSpPr>
          <p:cNvPr id="3" name="Text 1"/>
          <p:cNvSpPr/>
          <p:nvPr/>
        </p:nvSpPr>
        <p:spPr>
          <a:xfrm>
            <a:off x="548640" y="1554480"/>
            <a:ext cx="11091672" cy="4114800"/>
          </a:xfrm>
          <a:prstGeom prst="rect">
            <a:avLst/>
          </a:prstGeom>
          <a:noFill/>
        </p:spPr>
        <p:txBody>
          <a:bodyPr wrap="square" rtlCol="0" anchor="t"/>
          <a:lstStyle/>
          <a:p>
            <a:pPr marL="177800" indent="-177800">
              <a:spcAft>
                <a:spcPts val="1400"/>
              </a:spcAft>
              <a:buSzPct val="100000"/>
              <a:buChar char="•"/>
            </a:pPr>
            <a:r>
              <a:rPr lang="en-US" sz="1500" dirty="0">
                <a:solidFill>
                  <a:srgbClr val="E9EEF7"/>
                </a:solidFill>
                <a:latin typeface="Calibri" panose="020F0502020204030204" pitchFamily="34" charset="0"/>
                <a:ea typeface="Calibri" panose="020F0502020204030204" pitchFamily="34" charset="-122"/>
                <a:cs typeface="Calibri" panose="020F0502020204030204" pitchFamily="34" charset="-120"/>
              </a:rPr>
              <a:t>Class imbalance (77% Positive) is the main driver of weak Neutral/Negative recall </a:t>
            </a:r>
            <a:endParaRPr lang="en-US" sz="1500" dirty="0"/>
          </a:p>
          <a:p>
            <a:pPr marL="177800" indent="-177800">
              <a:spcAft>
                <a:spcPts val="1400"/>
              </a:spcAft>
              <a:buSzPct val="100000"/>
              <a:buChar char="•"/>
            </a:pPr>
            <a:r>
              <a:rPr lang="en-US" sz="1500" dirty="0">
                <a:solidFill>
                  <a:srgbClr val="E9EEF7"/>
                </a:solidFill>
                <a:latin typeface="Calibri" panose="020F0502020204030204" pitchFamily="34" charset="0"/>
                <a:ea typeface="Calibri" panose="020F0502020204030204" pitchFamily="34" charset="-122"/>
                <a:cs typeface="Calibri" panose="020F0502020204030204" pitchFamily="34" charset="-120"/>
              </a:rPr>
              <a:t>Logistic Regression is the strongest model; class_weight='balanced' lifts Negative recall from 0.41 to 0.57 and Macro F1 to 0.60, at the cost of overall accuracy (82.1% → 77.0%)</a:t>
            </a:r>
            <a:endParaRPr lang="en-US" sz="1500" dirty="0"/>
          </a:p>
          <a:p>
            <a:pPr marL="177800" indent="-177800">
              <a:spcAft>
                <a:spcPts val="1400"/>
              </a:spcAft>
              <a:buSzPct val="100000"/>
              <a:buChar char="•"/>
            </a:pPr>
            <a:r>
              <a:rPr lang="en-US" sz="1500" dirty="0">
                <a:solidFill>
                  <a:srgbClr val="E9EEF7"/>
                </a:solidFill>
                <a:latin typeface="Calibri" panose="020F0502020204030204" pitchFamily="34" charset="0"/>
                <a:ea typeface="Calibri" panose="020F0502020204030204" pitchFamily="34" charset="-122"/>
                <a:cs typeface="Calibri" panose="020F0502020204030204" pitchFamily="34" charset="-120"/>
              </a:rPr>
              <a:t>Automating sentiment + complaint clustering lets customer service teams react to emerging issues as they appear, instead of reading reviews manually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5549</Words>
  <Application>WPS Presentation</Application>
  <PresentationFormat>On-screen Show (16:9)</PresentationFormat>
  <Paragraphs>268</Paragraphs>
  <Slides>10</Slides>
  <Notes>10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10</vt:i4>
      </vt:variant>
    </vt:vector>
  </HeadingPairs>
  <TitlesOfParts>
    <vt:vector size="20" baseType="lpstr">
      <vt:lpstr>Arial</vt:lpstr>
      <vt:lpstr>SimSun</vt:lpstr>
      <vt:lpstr>Wingdings</vt:lpstr>
      <vt:lpstr>Calibri</vt:lpstr>
      <vt:lpstr>Calibri</vt:lpstr>
      <vt:lpstr>Calibri</vt:lpstr>
      <vt:lpstr>Arial</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Ahmed Abdullatif</cp:lastModifiedBy>
  <cp:revision>4</cp:revision>
  <dcterms:created xsi:type="dcterms:W3CDTF">2026-09-22T23:08:00Z</dcterms:created>
  <dcterms:modified xsi:type="dcterms:W3CDTF">2026-09-23T19:03:03Z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5114A89D253049E5B100829B851AFCDE_12</vt:lpwstr>
  </property>
</Properties>
</file>